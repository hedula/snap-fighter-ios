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4fb05a57944885" /><Relationship Type="http://schemas.openxmlformats.org/officeDocument/2006/relationships/extended-properties" Target="/docProps/app.xml" Id="R5703da5eb50446fb" /><Relationship Type="http://schemas.openxmlformats.org/officeDocument/2006/relationships/officeDocument" Target="/ppt/presentation.xml" Id="Rbc5ba7d17aee41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090a70e86a40ef"/>
  </p:sldMasterIdLst>
  <p:notesMasterIdLst>
    <p:notesMasterId xmlns:r="http://schemas.openxmlformats.org/officeDocument/2006/relationships" r:id="R1b6d5103f0644abb"/>
  </p:notesMasterIdLst>
  <p:sldIdLst>
    <p:sldId xmlns:r="http://schemas.openxmlformats.org/officeDocument/2006/relationships" id="256" r:id="R33f45f9ccd34447e"/>
    <p:sldId xmlns:r="http://schemas.openxmlformats.org/officeDocument/2006/relationships" id="257" r:id="R46076ec06ae3418d"/>
    <p:sldId xmlns:r="http://schemas.openxmlformats.org/officeDocument/2006/relationships" id="258" r:id="R2e38320d64374b6e"/>
    <p:sldId xmlns:r="http://schemas.openxmlformats.org/officeDocument/2006/relationships" id="259" r:id="R5d9b90e8039045ec"/>
    <p:sldId xmlns:r="http://schemas.openxmlformats.org/officeDocument/2006/relationships" id="260" r:id="R0dba6709b4b74f3f"/>
    <p:sldId xmlns:r="http://schemas.openxmlformats.org/officeDocument/2006/relationships" id="261" r:id="R438e5b4fec544f8c"/>
    <p:sldId xmlns:r="http://schemas.openxmlformats.org/officeDocument/2006/relationships" id="262" r:id="Rfc9580e8d1324ba4"/>
    <p:sldId xmlns:r="http://schemas.openxmlformats.org/officeDocument/2006/relationships" id="263" r:id="R0cd6902942d84b5b"/>
    <p:sldId xmlns:r="http://schemas.openxmlformats.org/officeDocument/2006/relationships" id="264" r:id="R4bb31829b20e4156"/>
    <p:sldId xmlns:r="http://schemas.openxmlformats.org/officeDocument/2006/relationships" id="265" r:id="R410994ce2da14836"/>
    <p:sldId xmlns:r="http://schemas.openxmlformats.org/officeDocument/2006/relationships" id="266" r:id="R3d645031fc214cd0"/>
    <p:sldId xmlns:r="http://schemas.openxmlformats.org/officeDocument/2006/relationships" id="267" r:id="R2d05d7d49bfd4867"/>
    <p:sldId xmlns:r="http://schemas.openxmlformats.org/officeDocument/2006/relationships" id="268" r:id="Rc71d01b470864917"/>
    <p:sldId xmlns:r="http://schemas.openxmlformats.org/officeDocument/2006/relationships" id="269" r:id="R893cce56b86246c1"/>
    <p:sldId xmlns:r="http://schemas.openxmlformats.org/officeDocument/2006/relationships" id="270" r:id="Rdcf7c714eee242b1"/>
    <p:sldId xmlns:r="http://schemas.openxmlformats.org/officeDocument/2006/relationships" id="271" r:id="Rd3d3a70d69974c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d2631b9d2d4784" /><Relationship Type="http://schemas.openxmlformats.org/officeDocument/2006/relationships/slideMaster" Target="/ppt/slideMasters/slideMaster1.xml" Id="R7a090a70e86a40ef" /><Relationship Type="http://schemas.openxmlformats.org/officeDocument/2006/relationships/notesMaster" Target="/ppt/notesMasters/notesMaster1.xml" Id="R1b6d5103f0644abb" /><Relationship Type="http://schemas.openxmlformats.org/officeDocument/2006/relationships/presProps" Target="/ppt/presProps.xml" Id="R95c3ee19ea4d4702" /><Relationship Type="http://schemas.openxmlformats.org/officeDocument/2006/relationships/tableStyles" Target="/ppt/tableStyles.xml" Id="R2542a2e52dd64050" /><Relationship Type="http://schemas.openxmlformats.org/officeDocument/2006/relationships/slide" Target="/ppt/slides/slide1.xml" Id="R33f45f9ccd34447e" /><Relationship Type="http://schemas.openxmlformats.org/officeDocument/2006/relationships/slide" Target="/ppt/slides/slide2.xml" Id="R46076ec06ae3418d" /><Relationship Type="http://schemas.openxmlformats.org/officeDocument/2006/relationships/slide" Target="/ppt/slides/slide3.xml" Id="R2e38320d64374b6e" /><Relationship Type="http://schemas.openxmlformats.org/officeDocument/2006/relationships/slide" Target="/ppt/slides/slide4.xml" Id="R5d9b90e8039045ec" /><Relationship Type="http://schemas.openxmlformats.org/officeDocument/2006/relationships/slide" Target="/ppt/slides/slide5.xml" Id="R0dba6709b4b74f3f" /><Relationship Type="http://schemas.openxmlformats.org/officeDocument/2006/relationships/slide" Target="/ppt/slides/slide6.xml" Id="R438e5b4fec544f8c" /><Relationship Type="http://schemas.openxmlformats.org/officeDocument/2006/relationships/slide" Target="/ppt/slides/slide7.xml" Id="Rfc9580e8d1324ba4" /><Relationship Type="http://schemas.openxmlformats.org/officeDocument/2006/relationships/slide" Target="/ppt/slides/slide8.xml" Id="R0cd6902942d84b5b" /><Relationship Type="http://schemas.openxmlformats.org/officeDocument/2006/relationships/slide" Target="/ppt/slides/slide9.xml" Id="R4bb31829b20e4156" /><Relationship Type="http://schemas.openxmlformats.org/officeDocument/2006/relationships/slide" Target="/ppt/slides/slide10.xml" Id="R410994ce2da14836" /><Relationship Type="http://schemas.openxmlformats.org/officeDocument/2006/relationships/slide" Target="/ppt/slides/slide11.xml" Id="R3d645031fc214cd0" /><Relationship Type="http://schemas.openxmlformats.org/officeDocument/2006/relationships/slide" Target="/ppt/slides/slide12.xml" Id="R2d05d7d49bfd4867" /><Relationship Type="http://schemas.openxmlformats.org/officeDocument/2006/relationships/slide" Target="/ppt/slides/slide13.xml" Id="Rc71d01b470864917" /><Relationship Type="http://schemas.openxmlformats.org/officeDocument/2006/relationships/slide" Target="/ppt/slides/slide14.xml" Id="R893cce56b86246c1" /><Relationship Type="http://schemas.openxmlformats.org/officeDocument/2006/relationships/slide" Target="/ppt/slides/slide15.xml" Id="Rdcf7c714eee242b1" /><Relationship Type="http://schemas.openxmlformats.org/officeDocument/2006/relationships/slide" Target="/ppt/slides/slide16.xml" Id="Rd3d3a70d69974c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3020c2581d40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8c92e29811483c" /><Relationship Type="http://schemas.openxmlformats.org/officeDocument/2006/relationships/notesMaster" Target="/ppt/notesMasters/notesMaster1.xml" Id="Rd3e6ad82beae4b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eb6161d3c74c55" /><Relationship Type="http://schemas.openxmlformats.org/officeDocument/2006/relationships/notesMaster" Target="/ppt/notesMasters/notesMaster1.xml" Id="R8801ba78f8d54c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c369ff30b14a7c" /><Relationship Type="http://schemas.openxmlformats.org/officeDocument/2006/relationships/notesMaster" Target="/ppt/notesMasters/notesMaster1.xml" Id="R738141ecfe734b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73a1c79e244dc2" /><Relationship Type="http://schemas.openxmlformats.org/officeDocument/2006/relationships/notesMaster" Target="/ppt/notesMasters/notesMaster1.xml" Id="Rc49f0c616e514c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ce3bc6b4b2409d" /><Relationship Type="http://schemas.openxmlformats.org/officeDocument/2006/relationships/notesMaster" Target="/ppt/notesMasters/notesMaster1.xml" Id="R79993e0ed5a847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162e6736114dd3" /><Relationship Type="http://schemas.openxmlformats.org/officeDocument/2006/relationships/notesMaster" Target="/ppt/notesMasters/notesMaster1.xml" Id="Rf09cbf46f04241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489f58af9546ab" /><Relationship Type="http://schemas.openxmlformats.org/officeDocument/2006/relationships/notesMaster" Target="/ppt/notesMasters/notesMaster1.xml" Id="R17b1baf7db1143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910a0bbfd241aa" /><Relationship Type="http://schemas.openxmlformats.org/officeDocument/2006/relationships/notesMaster" Target="/ppt/notesMasters/notesMaster1.xml" Id="Rbf077bb3cc8241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ce9bebf2a34013" /><Relationship Type="http://schemas.openxmlformats.org/officeDocument/2006/relationships/notesMaster" Target="/ppt/notesMasters/notesMaster1.xml" Id="Rbb4ae98aa08f47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205d607ae5425e" /><Relationship Type="http://schemas.openxmlformats.org/officeDocument/2006/relationships/notesMaster" Target="/ppt/notesMasters/notesMaster1.xml" Id="R62f329920fe849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01808f01744ee0" /><Relationship Type="http://schemas.openxmlformats.org/officeDocument/2006/relationships/notesMaster" Target="/ppt/notesMasters/notesMaster1.xml" Id="R3e649e3cb38f46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7c1ff900f44d97" /><Relationship Type="http://schemas.openxmlformats.org/officeDocument/2006/relationships/notesMaster" Target="/ppt/notesMasters/notesMaster1.xml" Id="Rdc4ecce1026a47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5e26de96164d8b" /><Relationship Type="http://schemas.openxmlformats.org/officeDocument/2006/relationships/notesMaster" Target="/ppt/notesMasters/notesMaster1.xml" Id="R65fac21ce3ec4a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cc2fccc4f64095" /><Relationship Type="http://schemas.openxmlformats.org/officeDocument/2006/relationships/notesMaster" Target="/ppt/notesMasters/notesMaster1.xml" Id="Rdb77daef498746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cb698173eb406e" /><Relationship Type="http://schemas.openxmlformats.org/officeDocument/2006/relationships/notesMaster" Target="/ppt/notesMasters/notesMaster1.xml" Id="R6ed67f42b66f4d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511b85230d4c52" /><Relationship Type="http://schemas.openxmlformats.org/officeDocument/2006/relationships/notesMaster" Target="/ppt/notesMasters/notesMaster1.xml" Id="Rf41a6fe5f5a84b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https://openai.com/index/introducing-gpt-5-4/</a:t>
            </a:r>
          </a:p>
          <a:p xmlns:a="http://schemas.openxmlformats.org/drawingml/2006/main">
            <a:r>
              <a:t>- https://openai.com/index/introducing-gpt-5-5/</a:t>
            </a:r>
          </a:p>
          <a:p xmlns:a="http://schemas.openxmlformats.org/drawingml/2006/main">
            <a:r>
              <a:t>- https://openai.com/index/gpt-5-6/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d24a4650f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198fd135714240" /><Relationship Type="http://schemas.openxmlformats.org/officeDocument/2006/relationships/slideLayout" Target="/ppt/slideLayouts/slideLayout1.xml" Id="R3c167666e8ad49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167666e8ad49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04de78c0f41f9" /><Relationship Type="http://schemas.openxmlformats.org/officeDocument/2006/relationships/image" Target="/ppt/media/image.png" Id="R320c3f8ca0b44b6c" /><Relationship Type="http://schemas.openxmlformats.org/officeDocument/2006/relationships/image" Target="/ppt/media/image2.png" Id="R6ab50e0141ce4736" /><Relationship Type="http://schemas.openxmlformats.org/officeDocument/2006/relationships/image" Target="/ppt/media/image3.png" Id="R857029a060574625" /><Relationship Type="http://schemas.openxmlformats.org/officeDocument/2006/relationships/notesSlide" Target="/ppt/notesSlides/notesSlide1.xml" Id="Re4b75ad0580e47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961ef16b746fb" /><Relationship Type="http://schemas.openxmlformats.org/officeDocument/2006/relationships/notesSlide" Target="/ppt/notesSlides/notesSlide2.xml" Id="R216eda8c4b0f46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d6ec044524cfe" /><Relationship Type="http://schemas.openxmlformats.org/officeDocument/2006/relationships/notesSlide" Target="/ppt/notesSlides/notesSlide3.xml" Id="R0a5c4ab5371f4d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5057c573848f4" /><Relationship Type="http://schemas.openxmlformats.org/officeDocument/2006/relationships/notesSlide" Target="/ppt/notesSlides/notesSlide4.xml" Id="R9c138fcc3f1846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b4b6066074bf2" /><Relationship Type="http://schemas.openxmlformats.org/officeDocument/2006/relationships/notesSlide" Target="/ppt/notesSlides/notesSlide5.xml" Id="R37bf50f0d09d4d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2251f12214b14" /><Relationship Type="http://schemas.openxmlformats.org/officeDocument/2006/relationships/notesSlide" Target="/ppt/notesSlides/notesSlide6.xml" Id="Rb7554ea98bd14b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f911857e44c7c" /><Relationship Type="http://schemas.openxmlformats.org/officeDocument/2006/relationships/notesSlide" Target="/ppt/notesSlides/notesSlide7.xml" Id="R0870aeb2e6c941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dd42bea4c40a4" /><Relationship Type="http://schemas.openxmlformats.org/officeDocument/2006/relationships/notesSlide" Target="/ppt/notesSlides/notesSlide8.xml" Id="R26905008d3884e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89e12e30b4334" /><Relationship Type="http://schemas.openxmlformats.org/officeDocument/2006/relationships/notesSlide" Target="/ppt/notesSlides/notesSlide9.xml" Id="Rc0429dde1e824f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a6d80cee041a0" /><Relationship Type="http://schemas.openxmlformats.org/officeDocument/2006/relationships/notesSlide" Target="/ppt/notesSlides/notesSlide10.xml" Id="Ra5a12dae8b8f46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75d93181747eb" /><Relationship Type="http://schemas.openxmlformats.org/officeDocument/2006/relationships/notesSlide" Target="/ppt/notesSlides/notesSlide11.xml" Id="R219f9e27538e4c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cfd2eca044b16" /><Relationship Type="http://schemas.openxmlformats.org/officeDocument/2006/relationships/notesSlide" Target="/ppt/notesSlides/notesSlide12.xml" Id="R2ed2617371e443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40314e53042ae" /><Relationship Type="http://schemas.openxmlformats.org/officeDocument/2006/relationships/notesSlide" Target="/ppt/notesSlides/notesSlide13.xml" Id="R4ecb8cff669746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8c0604f2d4a02" /><Relationship Type="http://schemas.openxmlformats.org/officeDocument/2006/relationships/notesSlide" Target="/ppt/notesSlides/notesSlide14.xml" Id="R356fae65e8a440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de1c790f74b0c" /><Relationship Type="http://schemas.openxmlformats.org/officeDocument/2006/relationships/image" Target="/ppt/media/image4.png" Id="R179ad57502a44b7b" /><Relationship Type="http://schemas.openxmlformats.org/officeDocument/2006/relationships/image" Target="/ppt/media/image5.png" Id="R7120bed4c93443bd" /><Relationship Type="http://schemas.openxmlformats.org/officeDocument/2006/relationships/notesSlide" Target="/ppt/notesSlides/notesSlide15.xml" Id="R19fe15d61a364a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03821c00c45d9" /><Relationship Type="http://schemas.openxmlformats.org/officeDocument/2006/relationships/image" Target="/ppt/media/image6.png" Id="Rdc86c07b87144fb5" /><Relationship Type="http://schemas.openxmlformats.org/officeDocument/2006/relationships/notesSlide" Target="/ppt/notesSlides/notesSlide16.xml" Id="R9ae37806d4d94740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6F2"/>
            </a:gs>
            <a:gs pos="60000">
              <a:srgbClr val="EEF3FF"/>
            </a:gs>
            <a:gs pos="100000">
              <a:srgbClr val="FFF1E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c3f8ca0b44b6c"/>
          <a:srcRect xmlns:a="http://schemas.openxmlformats.org/drawingml/2006/main" l="0" t="12152" r="0" b="1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5FA38-72DD-4C45-8920-2F2D1967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6F2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73EF0-D052-4B77-9D56-E01289B5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64214"/>
                </a:solidFill>
              </a:defRPr>
            </a:pPr>
            <a:r>
              <a:rPr sz="1125" b="1">
                <a:solidFill>
                  <a:srgbClr val="B64214"/>
                </a:solidFill>
              </a:rPr>
              <a:t>APPLE DEVELOPER WORKSHOP / 7.26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27005-C08F-4211-B4AC-2B40E38A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47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我不會 Swift，</a:t>
            </a:r>
          </a:p>
          <a:p xmlns:a="http://schemas.openxmlformats.org/drawingml/2006/main">
            <a:pPr>
              <a:buNone/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但我做了一個</a:t>
            </a:r>
          </a:p>
          <a:p xmlns:a="http://schemas.openxmlformats.org/drawingml/2006/main">
            <a:pPr>
              <a:buNone/>
              <a:defRPr sz="3900" b="1">
                <a:solidFill>
                  <a:srgbClr val="172033"/>
                </a:solidFill>
              </a:defRPr>
            </a:pPr>
            <a:r>
              <a:rPr sz="3900" b="1">
                <a:solidFill>
                  <a:srgbClr val="172033"/>
                </a:solidFill>
              </a:rPr>
              <a:t>AI 怪獸對戰遊戲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7FB81-F7AC-4BA7-B278-41A9E725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一場從想法、規劃到 AI 協作實作的開發實驗。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826B2-A202-4C08-99D6-D1225450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1699C-5386-46C9-8031-4ACD14E1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6E3EB-6AA8-4BBF-A351-7089E3D8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66174"/>
                </a:solidFill>
              </a:defRPr>
            </a:pPr>
            <a:r>
              <a:rPr sz="1800" b="1">
                <a:solidFill>
                  <a:srgbClr val="56617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B23F9-2D6A-41B1-AC38-3D976AB1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E4FB6-DC34-433B-9B49-F097E656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9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91959-787B-4D90-AACA-CB028484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19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66174"/>
                </a:solidFill>
              </a:defRPr>
            </a:pPr>
            <a:r>
              <a:rPr sz="1800" b="1">
                <a:solidFill>
                  <a:srgbClr val="56617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CFE83-F6A1-40CF-8219-2CC3A410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720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2A013-150D-4DA4-81EF-7499B18B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96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60168-B590-4EFC-B576-EF7EAAE1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66174"/>
                </a:solidFill>
              </a:defRPr>
            </a:pPr>
            <a:r>
              <a:rPr sz="1350" b="1">
                <a:solidFill>
                  <a:srgbClr val="566174"/>
                </a:solidFill>
              </a:rPr>
              <a:t>攝靈者卡牌（Snap Fighter）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85C76-86E2-43D5-A0C0-F2E0408D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不會 Swift，不代表不能做產品。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50e0141ce4736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781300"/>
            <a:ext cx="1619250" cy="2190750"/>
          </a:xfrm>
          <a:prstGeom xmlns:a="http://schemas.openxmlformats.org/drawingml/2006/main" prst="roundRect">
            <a:avLst>
              <a:gd name="adj" fmla="val 12941"/>
            </a:avLst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029a060574625"/>
          <a:srcRect xmlns:a="http://schemas.openxmlformats.org/drawingml/2006/main" l="725" t="0" r="7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4100" y="2476500"/>
            <a:ext cx="1619250" cy="2190750"/>
          </a:xfrm>
          <a:prstGeom xmlns:a="http://schemas.openxmlformats.org/drawingml/2006/main" prst="roundRect">
            <a:avLst>
              <a:gd name="adj" fmla="val 12941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5868C-8479-4747-BCDE-BCCC482F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拍照 → 生成 → 對戰</a:t>
            </a:r>
          </a:p>
        </p:txBody>
      </p:sp>
    </p:spTree>
    <p:extLst>
      <p:ext uri="{BB962C8B-B14F-4D97-AF65-F5344CB8AC3E}">
        <p14:creationId xmlns:p14="http://schemas.microsoft.com/office/powerpoint/2010/main" val="4941866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D478D-5210-41C6-B071-F6A63998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FC5E3-5B46-46D8-AE4F-DF651149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C0643-DD48-4479-963C-E815473C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00 / 為什麼是我來做這個題目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31A3E-1EC6-4D8A-9A11-B60EE2C0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D34B6-3FA3-4388-8DC3-A4548E5B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我不是 Swift 開發者，</a:t>
            </a:r>
          </a:p>
          <a:p xmlns:a="http://schemas.openxmlformats.org/drawingml/2006/main">
            <a:pPr>
              <a:buNone/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但我擅長把複雜問題拆成 AI 可協作的系統。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38647-0952-43E0-B1D0-55B83BBE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跨設計、前端、SEO、雲端與 AI 工作流整合，這正是攝靈者卡牌的出發點。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55921-9CA3-4427-8117-EEF5A394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B64214"/>
                </a:solidFill>
              </a:defRPr>
            </a:pPr>
            <a:r>
              <a:rPr sz="2100" b="1">
                <a:solidFill>
                  <a:srgbClr val="B64214"/>
                </a:solidFill>
              </a:rPr>
              <a:t>李奕叡 Eric Lee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FB38F-2683-46A9-A24B-0C69F19B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視覺全端工程師｜AI 協作開發實踐者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90824-C76D-4468-A26A-32903335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333375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482DC-4E66-45E9-8CF5-B24E464C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76200" cy="137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2CC9B-0CB6-40E6-BBF2-18E6B033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跨域背景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A61A0-BDF5-4ECD-87E6-8A0D697B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平面、影音、UI/UX、網站工程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把不同專業語言轉成同一條產品路徑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B35B1-77BE-4681-9FA2-02056F93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71900"/>
            <a:ext cx="333375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BB7F7-7722-4114-AF07-EC72CD73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71900"/>
            <a:ext cx="76200" cy="137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58EE2-9428-485B-A3B0-C50455A7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981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經歷亮點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A8F17-9E86-4A8A-85B3-6AD9C579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005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參與 Hyundai Santa Fe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原廠車載多媒體介面設計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D9805-9414-4B0D-B5B8-0A696C3D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3333750" cy="13716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E6ACF-03F2-4E22-8C46-38BA63AA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76200" cy="1371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BF16BD-59FB-4836-9636-5B394BC4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814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現在專注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0E7BA-A5FA-4D1C-96EB-0A1305C2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005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AI 協作開發、CMS、SEO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與可驗證的工作流程設計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37E59-5665-49EE-A67C-501F7D97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這場分享不是教你變成 Swift 專家，而是示範如何用 AI 把陌生技術組成可 demo 的產品。</a:t>
            </a:r>
          </a:p>
        </p:txBody>
      </p:sp>
    </p:spTree>
    <p:extLst>
      <p:ext uri="{BB962C8B-B14F-4D97-AF65-F5344CB8AC3E}">
        <p14:creationId xmlns:p14="http://schemas.microsoft.com/office/powerpoint/2010/main" val="460350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3F7A3-F28A-4DD1-813B-603A47F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C9BA2-17DD-49E2-8380-2EE7033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40D7B-3CF9-40DA-BE5C-615F8DBF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01 / 仍是同一個怪獸對戰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00CE2-A532-4C07-8553-CC91025C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784B2-F8A0-4474-A6F7-5CE60BD3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以前需要一個團隊，</a:t>
            </a:r>
          </a:p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現在先需要一個可協作的系統。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880CD-9D4B-438D-930B-F54973A6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AI 協作流程是方法，攝靈者卡牌才是這場 Workshop 的主角。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0D3B8-66DD-47B1-9E3B-5B522794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476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D16D8-C24B-41A4-8F5E-F41EE65D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61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3752E-3075-4C69-9C48-6AA675D6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玩家看到的遊戲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74B00-566F-4F3D-B83B-816F92B6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4019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企劃 → 設計 → 程式 → 測試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每個角色依序交接，想法驗證成本高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236BD-CB25-4459-B2CB-EAE6E10A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4476750" cy="20955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834EE-EE7D-47A6-9508-6D1419A6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3A596-3D00-4670-AC25-71316460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623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我們拆解的 40 分鐘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A3D0A-021F-4F36-A7BB-7041DEA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1400"/>
            <a:ext cx="4019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想法 → Context → Agent → 實作 → 審查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一個人也能同時召集多種專業視角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FA025-C1A2-44DC-A2A9-551721F1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先讓觀眾看到遊戲，再解釋 AI 如何一起把它做出來。</a:t>
            </a:r>
          </a:p>
        </p:txBody>
      </p:sp>
    </p:spTree>
    <p:extLst>
      <p:ext uri="{BB962C8B-B14F-4D97-AF65-F5344CB8AC3E}">
        <p14:creationId xmlns:p14="http://schemas.microsoft.com/office/powerpoint/2010/main" val="1851945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79FD0-4DB3-4082-B0C1-93018C0F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153F7-3789-48C8-8083-9BF6F36C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B12C8-E242-498D-BBEF-443B6268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02 / 開始之前，不是先寫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3609E-74CC-4E9A-8A4E-9961F3EF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1DDD1-23B8-4596-BBED-79A11106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我先建立一個</a:t>
            </a:r>
          </a:p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讓 AI 能工作的開發環境。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98571-22A6-4B8E-BBEA-ABC2D3AC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Context 的目的：讓每一次協作都不必重新解釋整個專案。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D547B-4C65-4BC0-AA89-6759CEC6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9530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DEDCE-E27E-4B6B-B273-BDF7E329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攝靈者卡牌 / Snap Fighter 專案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A02ED-891A-4229-A54F-B3714A84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├── .development_document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│   ├── </a:t>
            </a:r>
            <a:r>
              <a:rPr sz="1350" b="0">
                <a:solidFill>
                  <a:srgbClr val="172033"/>
                </a:solidFill>
              </a:rPr>
              <a:t>context / decisions / workflows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│   ├── </a:t>
            </a:r>
            <a:r>
              <a:rPr sz="1350" b="0">
                <a:solidFill>
                  <a:srgbClr val="172033"/>
                </a:solidFill>
              </a:rPr>
              <a:t>plan / tasks / study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│   └── changelog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├── </a:t>
            </a:r>
            <a:r>
              <a:rPr sz="1350" b="0">
                <a:solidFill>
                  <a:srgbClr val="172033"/>
                </a:solidFill>
              </a:rPr>
              <a:t>.memory / .skills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├── </a:t>
            </a:r>
            <a:r>
              <a:rPr sz="1350" b="0">
                <a:solidFill>
                  <a:srgbClr val="172033"/>
                </a:solidFill>
              </a:rPr>
              <a:t>AGENTS.md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└── </a:t>
            </a:r>
            <a:r>
              <a:rPr sz="1350" b="0">
                <a:solidFill>
                  <a:srgbClr val="172033"/>
                </a:solidFill>
              </a:rPr>
              <a:t>App / Worker / Promo 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6B2CA-8D0B-46B4-816A-12D5A186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50673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B388B-378C-4334-9529-46CFAEBA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D6DA2-B771-45D3-A192-96935E90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57712-228B-4B60-9DCF-32898D83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52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這個版本要驗證什麼？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AF53B-7B39-48C6-B321-5261AD1C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50673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F91FD-BBB6-4AEC-BFF5-91F8BC19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D430E-1BC3-475C-9BA8-996B6D1E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10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4A848-34B2-4D76-B61E-29508A61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平台、時間、技術邊界？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8E1B7-6ECA-4AA8-B5EC-1D46B8B8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50673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CBA66-49C3-4708-9B70-D399C86A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975B7-0CE0-4A2F-A5C6-014DA160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規則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F0219-E97A-429B-83C5-B385B3B0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05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什麼叫完成？如何驗證？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8B849-7C8E-4899-A048-EF62B713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Prompt 是一次性的指令；Context 是持續的工作記憶。</a:t>
            </a:r>
          </a:p>
        </p:txBody>
      </p:sp>
    </p:spTree>
    <p:extLst>
      <p:ext uri="{BB962C8B-B14F-4D97-AF65-F5344CB8AC3E}">
        <p14:creationId xmlns:p14="http://schemas.microsoft.com/office/powerpoint/2010/main" val="1980640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3AA66-3F3A-46E8-B8C3-750F70AF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07527-7331-4DB6-AD0C-B3A382F1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52E1A-775F-4C42-8E70-F8F36612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03 / 不讓 AI 只有一個人格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1D2CD-298C-4C98-8493-40435F06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7CC6A-6B04-42F8-B532-15484C2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把專業拆成角色，</a:t>
            </a:r>
          </a:p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讓不同 Agent 檢查不同問題。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EFB05-824C-4669-933C-A87B871D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每個角色都有自己的判斷標準，不是換一個稱呼而已。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3A793-E683-4A2B-8283-83EBA0B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2055F-34CC-48FE-B468-0200C9D4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E85B24"/>
                </a:solidFill>
              </a:defRPr>
            </a:pPr>
            <a:r>
              <a:rPr sz="1200" b="1">
                <a:solidFill>
                  <a:srgbClr val="E85B24"/>
                </a:solidFill>
              </a:rPr>
              <a:t>GAME PRODUCER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06562-8592-422B-999E-9F4575DF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MVP 範圍、玩家循環、Demo 是否安全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64A84-003C-4ED5-A2C1-E7DA6A3E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E1517-211A-4997-96D6-2366D71C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946C1"/>
                </a:solidFill>
              </a:defRPr>
            </a:pPr>
            <a:r>
              <a:rPr sz="1200" b="1">
                <a:solidFill>
                  <a:srgbClr val="6946C1"/>
                </a:solidFill>
              </a:rPr>
              <a:t>GAME DESIGNER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A6E92-5B4B-4D35-AEC7-1EBE7EE1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規則、平衡、每回合是否有決策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2E33D-6F81-4E22-9A0C-D0AB1E7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18339-2112-4206-8B4A-D785E6DC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87EA4"/>
                </a:solidFill>
              </a:defRPr>
            </a:pPr>
            <a:r>
              <a:rPr sz="1200" b="1">
                <a:solidFill>
                  <a:srgbClr val="087EA4"/>
                </a:solidFill>
              </a:rPr>
              <a:t>UI DESIGNER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6C639-9AF1-4B55-B8B6-BB684F91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資訊層級、按鈕位置、視覺回饋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17785-3760-40B2-B1D1-10F550C2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76700"/>
            <a:ext cx="50673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FF161-315F-4897-8AC7-40E7EAA6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48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E7D32"/>
                </a:solidFill>
              </a:defRPr>
            </a:pPr>
            <a:r>
              <a:rPr sz="1200" b="1">
                <a:solidFill>
                  <a:srgbClr val="2E7D32"/>
                </a:solidFill>
              </a:rPr>
              <a:t>QA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EF3C3-A9D7-4081-A43A-A86D2718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Edge case、失敗路徑、回歸測試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090C4-E43A-4CE0-9239-2950D3E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AI 協作的關鍵，不是叫得更大聲，而是讓問題被不同角度看見。</a:t>
            </a:r>
          </a:p>
        </p:txBody>
      </p:sp>
    </p:spTree>
    <p:extLst>
      <p:ext uri="{BB962C8B-B14F-4D97-AF65-F5344CB8AC3E}">
        <p14:creationId xmlns:p14="http://schemas.microsoft.com/office/powerpoint/2010/main" val="375533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97402-922B-4E87-9F42-8CFEB274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CDADC-C31C-42F2-A875-D19DC4E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018F3-96C5-4C0D-9B5B-2758FE5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04 / 先討論，再開發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362B-2AEB-44B4-9A06-8FEFEF5B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44D6C-FF3D-492E-B6E8-E749BAD8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我不是直接命令 AI 寫遊戲。</a:t>
            </a:r>
          </a:p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我先跟它一起把想法問清楚。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EFC17-AD60-4E7D-B4D6-88003178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7147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B43AF-9C0F-4101-B89F-0C6A992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6FF5C-DA8F-4D0F-894B-F1B4FEE0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人的想法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9F892-9889-4730-B828-64DD4C4F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我想做一個</a:t>
            </a:r>
          </a:p>
          <a:p xmlns:a="http://schemas.openxmlformats.org/drawingml/2006/main">
            <a:pPr>
              <a:buNone/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拍照變怪獸的遊戲。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D062C-DCFA-40DE-96C1-5D07FA7F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E85B24"/>
                </a:solidFill>
              </a:defRPr>
            </a:pPr>
            <a:r>
              <a:rPr sz="2400" b="1">
                <a:solidFill>
                  <a:srgbClr val="E85B2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B6BFC-E056-4272-97C1-07C4F93F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592455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A211D-9AC9-43AA-9EA9-EBF143B6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FD9EE-1307-4359-B660-9EA80B4A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共同設計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96025-F16C-4203-A081-8A6CCE6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玩家為什麼要拍？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什麼算 MVP？30 分鐘能完成哪一段？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E082B-C522-4F6B-88A0-1F795DC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對話會把模糊的願望，轉成可驗證的產品問題。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00022-F476-4075-8CFB-0F2D280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66174"/>
                </a:solidFill>
              </a:defRPr>
            </a:pPr>
            <a:r>
              <a:rPr sz="1200" b="0">
                <a:solidFill>
                  <a:srgbClr val="566174"/>
                </a:solidFill>
              </a:rPr>
              <a:t>平台 / 玩家循環 / 技術限制 / Demo 路徑</a:t>
            </a:r>
          </a:p>
        </p:txBody>
      </p:sp>
    </p:spTree>
    <p:extLst>
      <p:ext uri="{BB962C8B-B14F-4D97-AF65-F5344CB8AC3E}">
        <p14:creationId xmlns:p14="http://schemas.microsoft.com/office/powerpoint/2010/main" val="719602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F5866-1FD2-43E6-A09E-A01E27CB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9CE2A-4F2E-43C8-8CCA-D4FF73BA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AD5B8-455C-44A4-B969-E9E4B9E7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05 / Chat 不是成果，文件才是成果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9D637-41D8-4F4E-B49D-29468B9F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AF54D-BD19-4D18-B3F1-49C3D781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對話結束後，我把共識轉成</a:t>
            </a:r>
          </a:p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下一個 Agent 可以執行的規劃書。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6AF4A-1533-4530-885A-5DEB2217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A3489-E091-40A7-842A-97B9FE06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85B24"/>
                </a:solidFill>
              </a:defRPr>
            </a:pPr>
            <a:r>
              <a:rPr sz="1125" b="1">
                <a:solidFill>
                  <a:srgbClr val="E85B24"/>
                </a:solidFill>
              </a:rPr>
              <a:t>CONVERSATION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9C693-DE54-481A-B440-8E21E425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想法、問題、取捨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0563FD-B875-4533-AC24-7EF769E5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62200-EF06-4BB5-9BE2-8EC8FDA8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96607-F8D6-4A5C-8F9A-A67C0808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EA4"/>
                </a:solidFill>
              </a:defRPr>
            </a:pPr>
            <a:r>
              <a:rPr sz="1125" b="1">
                <a:solidFill>
                  <a:srgbClr val="087EA4"/>
                </a:solidFill>
              </a:rPr>
              <a:t>GAME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C61ED-C014-45A4-BDC5-7AFEFB74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Core Loop、玩家體驗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5F91E-87E8-48FD-9E62-04179882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25FCF-CB05-4577-AE15-D04DC2D6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19400"/>
            <a:ext cx="316230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4F17A-6EF1-4CF5-AA1F-5437E16A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67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6946C1"/>
                </a:solidFill>
              </a:defRPr>
            </a:pPr>
            <a:r>
              <a:rPr sz="1125" b="1">
                <a:solidFill>
                  <a:srgbClr val="6946C1"/>
                </a:solidFill>
              </a:rPr>
              <a:t>IMPLEMENTATION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11D0E-BD57-4602-A7BF-9C92B1D5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任務、資料、驗收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0D2716-0586-4A1E-9201-8BDDC9EB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00125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9EEF7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1A2CE-E3FD-48AF-9B4C-DCF248B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Core Loop: 1. Capture Photo  2. Generate Monster  3. Battle  4. Result</a:t>
            </a:r>
          </a:p>
        </p:txBody>
      </p:sp>
    </p:spTree>
    <p:extLst>
      <p:ext uri="{BB962C8B-B14F-4D97-AF65-F5344CB8AC3E}">
        <p14:creationId xmlns:p14="http://schemas.microsoft.com/office/powerpoint/2010/main" val="873372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F8D72-E93A-48F6-A9D3-0FE6A223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EB03B-61E8-441C-BD62-12C0963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B316E-3D4C-4C34-B0D8-36F8B61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06 / 10 分鐘前置規劃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FF7A3-4B5F-4248-86B9-A31F0D1A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359BE-DF61-4166-AF3B-2DFD124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10 分鐘只做三個決定：</a:t>
            </a:r>
          </a:p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做什麼、先不做什麼、怎麼算完成。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D4F76-C10B-4F0B-9416-76B3C7F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這是第一版 MVP 的邊界，不是目前產品的功能清單。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8FB7F-834B-4607-9528-59BEFB9E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784A7-95C1-403E-B33A-0F19D061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2BF84-6EE7-4BA0-BEB4-25DFB5C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MUST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01C94-819A-4916-BAD5-E4A4A93E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拍照或選照片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AI 回傳一張怪獸卡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兩隻怪獸進入戰鬥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0844B-FA53-4DDB-8E31-8507ABD5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D0B6A-1CDA-4FD4-A5A7-6BAD120E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B2232-7718-45D1-BA26-400BD99D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後來完成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DA38C-D65A-44E2-AD90-673877A6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卡牌收藏與升級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替補位與交換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勝利後經驗值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CC311-AFE9-47F2-8220-7FB6EF4C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33375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3BC3E-3221-4AFD-BD51-116EFC3E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34BD2-656E-4B0E-8FF7-9F01ED5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NOT TODAY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A53EE-51A9-4AFB-925B-F13DA0EF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多人連線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商店與抽卡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複雜的屬性相剋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C8551-5EFE-4CFF-91D2-23D3280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MVP 定義第一個可玩版本，不是產品的終點。</a:t>
            </a:r>
          </a:p>
        </p:txBody>
      </p:sp>
    </p:spTree>
    <p:extLst>
      <p:ext uri="{BB962C8B-B14F-4D97-AF65-F5344CB8AC3E}">
        <p14:creationId xmlns:p14="http://schemas.microsoft.com/office/powerpoint/2010/main" val="5247353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79378B-BF9D-4891-BB12-99F643FC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F2BD9-D57A-45D8-A6F9-B2DE1F15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5352E-507C-4FB4-B642-90D40FC8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07 / 把 MVP 畫成一條路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180EB-E31C-42CA-8F77-8F7133E6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7405A-4989-4CDC-997A-40F46672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28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我們先畫出 4 個畫面，</a:t>
            </a:r>
          </a:p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再讓 AI 寫 SwiftUI。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7E119-8CA0-49D5-8E69-0097E4A8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每一個畫面都只回答一個問題。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23C6F-33A3-45A9-8FBA-5503F46E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D19B3-22BF-457C-A8EC-A7CC15C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9B7E7-55F9-468D-87D1-AF209066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E5B4E-0D3E-442D-B0FE-1A3644E1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拍照抓怪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F18E9-CC2C-435F-A0EC-458E3DFF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我想把什麼變成怪獸？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1B7FB-9E8C-448C-8DCD-2A4975B1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D0E31-380E-46DE-ADC6-B6F52F09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662C3-F1D6-47FB-9E5A-95F77FC2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E556A-F784-4869-B03A-C1F5A86A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怪獸卡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5290F-BEA5-43F0-89FA-963F002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AI 幫我生成了什麼？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87DC0-9F73-43A9-817E-8483845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49D57-1B76-41DC-95CF-E43EDD51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F022C-D0D2-4BA2-9FB1-AE08062A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838355-E0CF-46AD-90F3-AC896ADB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對戰場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541C4-55D8-4203-AD15-2354C71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這一回合我要做什麼？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F9ED0-1EFE-45FF-8339-0D81B62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10050"/>
            <a:ext cx="3238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94CC7-BF4A-4D07-971D-37B2E17B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577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E8E391-6C24-4D4C-A24A-036079A3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339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8CB4B-4A73-4B85-B744-51CD5504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戰鬥結果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3A1262-23B0-4165-AB66-03E47939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我贏了什麼？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C0E64-D376-463C-8E3A-8C80B5FE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3448050" cy="2514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9525">
            <a:solidFill>
              <a:srgbClr val="087E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F6846F-1F1F-4E4C-B150-7E229328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EA4"/>
                </a:solidFill>
              </a:defRPr>
            </a:pPr>
            <a:r>
              <a:rPr sz="1500" b="1">
                <a:solidFill>
                  <a:srgbClr val="087EA4"/>
                </a:solidFill>
              </a:rPr>
              <a:t>最小資料契約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E788B-1D66-4B9B-A9D6-6C886F57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276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Monster { name, element,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hp, atk, def, skill }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/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BattleSession {</a:t>
            </a:r>
          </a:p>
          <a:p xmlns:a="http://schemas.openxmlformats.org/drawingml/2006/main">
            <a:r>
              <a:t>  player, opponent,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reservePlayer, winner }</a:t>
            </a:r>
          </a:p>
        </p:txBody>
      </p:sp>
    </p:spTree>
    <p:extLst>
      <p:ext uri="{BB962C8B-B14F-4D97-AF65-F5344CB8AC3E}">
        <p14:creationId xmlns:p14="http://schemas.microsoft.com/office/powerpoint/2010/main" val="12850562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5D869-ADC2-4413-A116-B9BBC12D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1D34F-9236-4F8B-AA52-F06AFCC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F8C3C-C87B-48AB-9470-458C4A3C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08 / 30 分鐘實作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4C185-E4E9-4AAA-848D-CB40E787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0F48-57E4-4D5F-B0D6-EF43721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30 分鐘不是把整個產品做完。</a:t>
            </a:r>
          </a:p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是把一個可玩的循環跑通。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6068A-7317-4763-8FBA-9774B43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9403D-7314-4895-88A9-C244D041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E85B24"/>
                </a:solidFill>
              </a:defRPr>
            </a:pPr>
            <a:r>
              <a:rPr sz="2100" b="1">
                <a:solidFill>
                  <a:srgbClr val="E85B24"/>
                </a:solidFill>
              </a:rPr>
              <a:t>0–10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1A887-DD9B-478A-B520-EE723E1D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先跑起來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D82D4-4C2A-4459-9A46-1E8571F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Xcode 專案、畫面骨架、假資料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5D8CB-653F-4AAC-8FBF-CE75B0F2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0F017-A009-4028-9DB5-D8A1F847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ABA282-1F85-4894-BBE3-5060BB7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87EA4"/>
                </a:solidFill>
              </a:defRPr>
            </a:pPr>
            <a:r>
              <a:rPr sz="2100" b="1">
                <a:solidFill>
                  <a:srgbClr val="087EA4"/>
                </a:solidFill>
              </a:rPr>
              <a:t>10–20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50682-9B0E-461F-9E2A-619BF57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接上分析端點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4B8D5-6BD1-4DBE-8E2E-02C7922A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呼叫已部署的 /analyze、JSON 解碼、卡牌生成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0B10F-A650-4F35-B59F-75832D0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6DEA3-3579-404D-AE73-293D75E2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2766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DF4DF-8752-477A-B28D-BAFA0A4C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6946C1"/>
                </a:solidFill>
              </a:defRPr>
            </a:pPr>
            <a:r>
              <a:rPr sz="2100" b="1">
                <a:solidFill>
                  <a:srgbClr val="6946C1"/>
                </a:solidFill>
              </a:rPr>
              <a:t>20–30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EC757-2F3C-4D4B-9108-8BB21F26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完成對戰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51B41-27FE-4BB7-8AD2-40463E9D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回合狀態、按鈕、勝負結果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21705-5C58-4A6C-A35F-4676A7CD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完成標準：能拍照或選照、看到卡牌、完成一次攻擊並看到結果。</a:t>
            </a:r>
          </a:p>
        </p:txBody>
      </p:sp>
    </p:spTree>
    <p:extLst>
      <p:ext uri="{BB962C8B-B14F-4D97-AF65-F5344CB8AC3E}">
        <p14:creationId xmlns:p14="http://schemas.microsoft.com/office/powerpoint/2010/main" val="1979016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C3F0B-807E-4B12-9495-070EE622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D786D-3BA2-477E-B92E-53F039C1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0411A-73D9-401F-8763-4E9A10E3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09 / AI 協作的真實樣貌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E016E-B037-45AD-983F-28F239F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9EF94-133E-478E-9EB1-3F20804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AI 會寫得很快，</a:t>
            </a:r>
          </a:p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能編譯卻不一定能 Demo。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490E6-9229-4CA8-827A-8D1475D3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我們示範的不是完美 prompt，而是從錯誤回到驗證。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96C01-501B-4FDB-8799-4F3CC7DE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6F7B1-8B6B-4F80-89FA-5A6B1E2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B3CAD-D325-4FDB-9CA5-B0734A9E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4972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EF2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B8BC1-2629-4A54-AB9E-9B8CDE9D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請建立 SwiftUI BattleView，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把攻擊、技能、防禦與換副將</a:t>
            </a:r>
          </a:p>
          <a:p xmlns:a="http://schemas.openxmlformats.org/drawingml/2006/main">
            <a:pPr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交給 BattleSession 管理。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B828F-D44F-45C7-AA0E-5C31BC4A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57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E85B24"/>
                </a:solidFill>
              </a:defRPr>
            </a:pPr>
            <a:r>
              <a:rPr sz="2250" b="1">
                <a:solidFill>
                  <a:srgbClr val="E85B24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ADAC6-9F19-4890-92E7-36647387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27587-2FC8-4FC9-AC84-F070F71C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2892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BUG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E05CA-8D86-4732-AE43-B3798F8E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497205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BE9E9"/>
          </a:solidFill>
          <a:ln xmlns:a="http://schemas.openxmlformats.org/drawingml/2006/main" w="9525">
            <a:solidFill>
              <a:srgbClr val="C628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D261C-1AA2-4E5A-889B-D4466338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1472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Target 能編譯，</a:t>
            </a:r>
          </a:p>
          <a:p xmlns:a="http://schemas.openxmlformats.org/drawingml/2006/main">
            <a:pPr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但 Xcode 沒有可執行的 shared scheme。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ECB41-EADA-4506-AC72-6076C20B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A43C1-E4FB-428E-840C-3AD0AF07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F4342-AE16-431B-906C-C4AFB111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EA4"/>
                </a:solidFill>
              </a:defRPr>
            </a:pPr>
            <a:r>
              <a:rPr sz="1500" b="1">
                <a:solidFill>
                  <a:srgbClr val="087EA4"/>
                </a:solidFill>
              </a:rPr>
              <a:t>先查 scheme 與 simulator，再判斷是不是 Swift code。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672F7-1A57-40CD-9F73-F92085B7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三個真實風險：狀態邊界、AI timeout / JSON、scheme / simulator。</a:t>
            </a:r>
          </a:p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AI 產出 code 後，仍要由你主動驗證。</a:t>
            </a:r>
          </a:p>
        </p:txBody>
      </p:sp>
    </p:spTree>
    <p:extLst>
      <p:ext uri="{BB962C8B-B14F-4D97-AF65-F5344CB8AC3E}">
        <p14:creationId xmlns:p14="http://schemas.microsoft.com/office/powerpoint/2010/main" val="17273391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F3569-4C17-4D9C-9158-39FEC6B2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640BB-F72D-4F2F-A572-7F24D3B9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76844-4378-43FB-B2BD-78C1C344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10 / 工具也在演進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32882-97A4-4887-BE10-10D83EE3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8B7BF-E180-460F-AD9C-F54FD6EC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66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從補完程式碼，</a:t>
            </a:r>
          </a:p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到協助維護整個系統。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CC668-4857-4341-BB97-C58D657A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以下是我在攝靈者卡牌開發過程中感受到的工作方式變化。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593D1-B8D9-43F5-8A2F-698F58BC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31813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8EBD3-2632-4C0C-B212-D36F16EE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85B24"/>
                </a:solidFill>
              </a:defRPr>
            </a:pPr>
            <a:r>
              <a:rPr sz="1725" b="1">
                <a:solidFill>
                  <a:srgbClr val="E85B24"/>
                </a:solidFill>
              </a:rPr>
              <a:t>GPT-5.4（Codex）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D26AD-E9B6-4821-A655-4EF0EEFA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Code generation</a:t>
            </a:r>
          </a:p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需要大量人工修正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85718-0733-4C4B-AD80-C399CDF9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43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30B8F-503A-4D1E-B89C-1A4E5E02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1813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76886-BEC7-4D35-954A-33F7C5FB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7EA4"/>
                </a:solidFill>
              </a:defRPr>
            </a:pPr>
            <a:r>
              <a:rPr sz="1725" b="1">
                <a:solidFill>
                  <a:srgbClr val="087EA4"/>
                </a:solidFill>
              </a:rPr>
              <a:t>GPT-5.5（Codex）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C1F2D-5FE2-49FA-83C6-CF8A83C1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Context understanding</a:t>
            </a:r>
          </a:p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開始能跟上專案脈絡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18229-9C3A-481C-98F0-83294855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B2E2A-CE95-4617-ACBE-6B528314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1813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B98C8-93B9-4AA1-9C31-191E3F60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6946C1"/>
                </a:solidFill>
              </a:defRPr>
            </a:pPr>
            <a:r>
              <a:rPr sz="1725" b="1">
                <a:solidFill>
                  <a:srgbClr val="6946C1"/>
                </a:solidFill>
              </a:rPr>
              <a:t>GPT-5.6 Sol（Codex）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2D643-3C68-4E11-AD05-A0D25CCD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576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Architecture collaboration</a:t>
            </a:r>
          </a:p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能參與長流程修改與取捨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24A6F4-82EA-4607-B1F0-DDE44C25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版本不是重點；重點是 AI 開始能理解：專案結構、開發意圖、修改影響。</a:t>
            </a:r>
          </a:p>
        </p:txBody>
      </p:sp>
    </p:spTree>
    <p:extLst>
      <p:ext uri="{BB962C8B-B14F-4D97-AF65-F5344CB8AC3E}">
        <p14:creationId xmlns:p14="http://schemas.microsoft.com/office/powerpoint/2010/main" val="1817846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BADFB-B1D3-4EAE-BACD-A887AB12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3BC89-8300-4C4A-AFD5-621D050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00F8B-7F8C-4F2A-8C30-0ADE726B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11 / 完成不是結束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6AAC2-8997-4842-9E67-382E5096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A380D-99C1-4F16-A8D6-660601E6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同一份遊戲，交給不同專家</a:t>
            </a:r>
          </a:p>
          <a:p xmlns:a="http://schemas.openxmlformats.org/drawingml/2006/main">
            <a:pPr>
              <a:buNone/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檢查不同的「完成」。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B9B32-283D-49E3-A231-A326E86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37E06-BDD4-4496-A3B8-5DE51AC8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85B24"/>
                </a:solidFill>
              </a:defRPr>
            </a:pPr>
            <a:r>
              <a:rPr sz="1275" b="1">
                <a:solidFill>
                  <a:srgbClr val="E85B24"/>
                </a:solidFill>
              </a:rPr>
              <a:t>GAME PRODUCER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4ABE7-42E4-4041-9EC1-17E7940B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玩家 10 秒內知道怎麼玩嗎？</a:t>
            </a:r>
          </a:p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MVP 是否太大？Demo 是否安全？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95FDD-E35D-4D0E-8F40-F8B72C27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已實作並納入目前版本。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DEBDB-27C8-422C-93CC-406D63C5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11529-D5E6-4FFE-B479-7546F609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EA4"/>
                </a:solidFill>
              </a:defRPr>
            </a:pPr>
            <a:r>
              <a:rPr sz="1275" b="1">
                <a:solidFill>
                  <a:srgbClr val="087EA4"/>
                </a:solidFill>
              </a:rPr>
              <a:t>UI DESIGNER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7E301-9127-4C24-B605-170EF32C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玩家知道下一步嗎？</a:t>
            </a:r>
          </a:p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HP、技能、主操作誰是焦點？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6C48A-126F-4697-9A58-13CB6EF0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已實作並納入目前版本。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5D76F-C9A6-4A2D-B6ED-10C9D302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181350" cy="21145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CA269-6969-4E19-BE06-C006981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99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E7D32"/>
                </a:solidFill>
              </a:defRPr>
            </a:pPr>
            <a:r>
              <a:rPr sz="1275" b="1">
                <a:solidFill>
                  <a:srgbClr val="2E7D32"/>
                </a:solidFill>
              </a:rPr>
              <a:t>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7B52B-D818-4D3C-8A15-7E59A932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272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網路斷線怎麼辦？</a:t>
            </a:r>
          </a:p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AI timeout、空資料、重啟是否可恢復？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479C6-F48D-40AE-8D34-AAA689A1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005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66174"/>
                </a:solidFill>
              </a:defRPr>
            </a:pPr>
            <a:r>
              <a:rPr sz="1125" b="0">
                <a:solidFill>
                  <a:srgbClr val="566174"/>
                </a:solidFill>
              </a:rPr>
              <a:t>已實作並納入目前版本。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F2F12-3E4B-4F89-867E-F6FAE2C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AI 產生速度越快，越需要把審查結果變成可驗證的改動。</a:t>
            </a:r>
          </a:p>
        </p:txBody>
      </p:sp>
    </p:spTree>
    <p:extLst>
      <p:ext uri="{BB962C8B-B14F-4D97-AF65-F5344CB8AC3E}">
        <p14:creationId xmlns:p14="http://schemas.microsoft.com/office/powerpoint/2010/main" val="218243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CF7BC-8969-4F8C-BDBA-F15CFFF9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AI 協作開發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6D8EB-8614-48CE-A41C-126ECF3E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08C4F-9F45-4D34-94EA-D6647720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66174"/>
                </a:solidFill>
              </a:defRPr>
            </a:pPr>
            <a:r>
              <a:rPr sz="900" b="1">
                <a:solidFill>
                  <a:srgbClr val="566174"/>
                </a:solidFill>
              </a:rPr>
              <a:t>12 / 審查後的目前版本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541A4-6741-4F82-9D0A-3A3E99BF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DC06D-52E1-4535-B44B-F1D5CCC5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Workshop 通過，不等於產品完成。</a:t>
            </a:r>
          </a:p>
          <a:p xmlns:a="http://schemas.openxmlformats.org/drawingml/2006/main">
            <a:pPr>
              <a:buNone/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Demo 可以成立，遊戲還要被驗證。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7AF7C-0F6E-4D8B-B1BF-9B74C61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C5895-4B8A-4DD3-919C-8CFD0C41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第一版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55CDA-3D05-4250-941A-9B148280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拍照／選照 → 怪獸卡 → 對戰 → 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9028D-7574-4E93-8305-2119D226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DBDC7-74E8-4D7D-936B-F14949D7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7F6F2"/>
                </a:solidFill>
              </a:defRPr>
            </a:pPr>
            <a:r>
              <a:rPr sz="975" b="1">
                <a:solidFill>
                  <a:srgbClr val="F7F6F2"/>
                </a:solidFill>
              </a:rPr>
              <a:t>目前版本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85890-0618-48AD-A967-3A2AD616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去背、卡庫、主副將、冷卻、EXP、AI provider 備援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A4BFC-8FD3-486E-B2E7-FE3063BA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08966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9EEF7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A766F-CC0C-4407-BBBC-1EF6DD62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功能變多不是重點；每一項都來自一次具體的審查與驗證。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86C90-48CB-4D48-9EE5-66833E14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66174"/>
                </a:solidFill>
              </a:defRPr>
            </a:pPr>
            <a:r>
              <a:rPr sz="1275" b="0">
                <a:solidFill>
                  <a:srgbClr val="566174"/>
                </a:solidFill>
              </a:rPr>
              <a:t>目前仍是 Workshop sample，不宣稱已完成正式遊戲的玩家驗證。</a:t>
            </a:r>
          </a:p>
        </p:txBody>
      </p:sp>
    </p:spTree>
    <p:extLst>
      <p:ext uri="{BB962C8B-B14F-4D97-AF65-F5344CB8AC3E}">
        <p14:creationId xmlns:p14="http://schemas.microsoft.com/office/powerpoint/2010/main" val="254396433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6F2"/>
            </a:gs>
            <a:gs pos="100000">
              <a:srgbClr val="EE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8ED185-D46F-40A9-9995-18EEF076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攝靈者卡牌 / FINAL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DA433-3715-4C50-84E6-C8EE0631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90 秒展示一條完整的因果鏈。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23A27-0E12-4822-9B37-29A1BE48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174"/>
                </a:solidFill>
              </a:defRPr>
            </a:pPr>
            <a:r>
              <a:rPr sz="1425" b="0">
                <a:solidFill>
                  <a:srgbClr val="566174"/>
                </a:solidFill>
              </a:rPr>
              <a:t>輸入 → AI → 遊戲 → 結果；讓觀眾看見每一步為什麼存在。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ACD19-3667-49C4-8324-2C7C5B90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85B2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94B9E-E925-4E8E-87F9-071E2980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E85B24"/>
                </a:solidFill>
              </a:defRPr>
            </a:pPr>
            <a:r>
              <a:rPr sz="1950" b="1">
                <a:solidFill>
                  <a:srgbClr val="E85B24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17550-6256-48E0-8503-EB645F62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拍攝物品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F6AC9-76BE-4C95-B8C2-55C43E7E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Photo /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6ADB2-FA7C-42BB-8692-E9DE94C0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6D957-13E3-43B7-8F24-E8B6FC8B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01F2C-0701-4217-A506-C99BD421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87EA4"/>
                </a:solidFill>
              </a:defRPr>
            </a:pPr>
            <a:r>
              <a:rPr sz="1950" b="1">
                <a:solidFill>
                  <a:srgbClr val="087EA4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E529B-E853-4665-A27A-7A7AC88C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AI 生成怪獸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ABFDA-5CB2-4413-A03D-B935DB26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Vision +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573E7-0474-4C30-B8D2-91A49A48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15DE0-790C-4724-9078-FA85F267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946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D46BA-1578-4D91-91E7-4F3E1B77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6946C1"/>
                </a:solidFill>
              </a:defRPr>
            </a:pPr>
            <a:r>
              <a:rPr sz="1950" b="1">
                <a:solidFill>
                  <a:srgbClr val="6946C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C5F9E-DC6C-44DE-8375-8842356E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生成卡牌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0D5CF-0303-4E6E-ACB1-7F93D640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MonsterResponse / Card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DB92A-2DB2-4721-85FA-AF4CCF9F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B88E4-9B72-4756-B863-39236502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AAF04-73D5-4FED-9EBD-FDA6D3AC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E7D32"/>
                </a:solidFill>
              </a:defRPr>
            </a:pPr>
            <a:r>
              <a:rPr sz="1950" b="1">
                <a:solidFill>
                  <a:srgbClr val="2E7D32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FC467-D2AF-4590-AC21-C369EA32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開始戰鬥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AE2A9D-BFC4-4C6A-B086-FEC7B3A5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BattleSession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AFE24-6D0E-4938-A028-872B2A6E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623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64214"/>
                </a:solidFill>
              </a:defRPr>
            </a:pPr>
            <a:r>
              <a:rPr sz="1500" b="1">
                <a:solidFill>
                  <a:srgbClr val="B64214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BB2AA-27D8-4F96-89EE-A00F9EBA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1885950" cy="1581150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42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2B5E9-0511-4A80-9FB9-96DF671B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24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B64214"/>
                </a:solidFill>
              </a:defRPr>
            </a:pPr>
            <a:r>
              <a:rPr sz="1950" b="1">
                <a:solidFill>
                  <a:srgbClr val="B64214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1A677-0597-46D4-83C2-96C3A5AF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3855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完成結果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2B59A-ABED-477A-81F0-2086C0A4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76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66174"/>
                </a:solidFill>
              </a:defRPr>
            </a:pPr>
            <a:r>
              <a:rPr sz="1050" b="0">
                <a:solidFill>
                  <a:srgbClr val="566174"/>
                </a:solidFill>
              </a:rPr>
              <a:t>Result / Collection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ad57502a44b7b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7300" y="4876800"/>
            <a:ext cx="952500" cy="1028700"/>
          </a:xfrm>
          <a:prstGeom xmlns:a="http://schemas.openxmlformats.org/drawingml/2006/main" prst="roundRect">
            <a:avLst>
              <a:gd name="adj" fmla="val 22000"/>
            </a:avLst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0bed4c93443bd"/>
          <a:srcRect xmlns:a="http://schemas.openxmlformats.org/drawingml/2006/main" l="0" t="9500" r="0" b="9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5050" y="4876800"/>
            <a:ext cx="952500" cy="1028700"/>
          </a:xfrm>
          <a:prstGeom xmlns:a="http://schemas.openxmlformats.org/drawingml/2006/main" prst="roundRect">
            <a:avLst>
              <a:gd name="adj" fmla="val 22000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907F7A-B9F2-4498-9A8F-D74F57E0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64214"/>
                </a:solidFill>
              </a:defRPr>
            </a:pPr>
            <a:r>
              <a:rPr sz="1575" b="1">
                <a:solidFill>
                  <a:srgbClr val="B64214"/>
                </a:solidFill>
              </a:rPr>
              <a:t>若相機或網路失敗：快速開戰 → 仍能完成戰鬥 Demo。</a:t>
            </a:r>
          </a:p>
        </p:txBody>
      </p:sp>
    </p:spTree>
    <p:extLst>
      <p:ext uri="{BB962C8B-B14F-4D97-AF65-F5344CB8AC3E}">
        <p14:creationId xmlns:p14="http://schemas.microsoft.com/office/powerpoint/2010/main" val="2070111473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1E9"/>
            </a:gs>
            <a:gs pos="68000">
              <a:srgbClr val="F7F6F2"/>
            </a:gs>
            <a:gs pos="100000">
              <a:srgbClr val="EAF8F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6c07b87144fb5"/>
          <a:srcRect xmlns:a="http://schemas.openxmlformats.org/drawingml/2006/main" l="0" t="12152" r="0" b="12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0"/>
            <a:ext cx="4191000" cy="6858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1280F-BA6E-4F8B-BD6B-9543172C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F6F2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A5298-B8A4-477B-A040-A67C872D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64214"/>
                </a:solidFill>
              </a:defRPr>
            </a:pPr>
            <a:r>
              <a:rPr sz="1200" b="1">
                <a:solidFill>
                  <a:srgbClr val="B64214"/>
                </a:solidFill>
              </a:rPr>
              <a:t>AI 時代工程師的新能力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F0F19-F805-46A2-90EF-68D9C269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不是寫更多 code。</a:t>
            </a:r>
          </a:p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是建立更好的系統，</a:t>
            </a:r>
          </a:p>
          <a:p xmlns:a="http://schemas.openxmlformats.org/drawingml/2006/main">
            <a:pPr>
              <a:buNone/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讓 AI 幫你完成。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78F35-D1B9-4C23-8BBC-55CB570C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EE26F-9C4F-4F64-AC18-419B81EC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5F21F-1871-4F1E-A9BD-FEC07BD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先定義問題，再寫程式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C4017-3ECF-4F41-850B-5588A6EE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EA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6177B-64B2-4402-BACF-7F277ACF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E3BA6-1BF6-48E0-8C2E-69ABB446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Context 比 Prompt 更重要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2AB4F-4E15-439A-AA80-07ED9B3F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46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CDDD0-D6AB-4271-8833-D0C26350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6F2"/>
                </a:solidFill>
              </a:defRPr>
            </a:pPr>
            <a:r>
              <a:rPr sz="1425" b="1">
                <a:solidFill>
                  <a:srgbClr val="F7F6F2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FFCD3-A91A-4CD9-8722-0577F0F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AI 是協作者，不是自動販賣機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FB50B-A385-4279-B39D-55604DCD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66174"/>
                </a:solidFill>
              </a:defRPr>
            </a:pPr>
            <a:r>
              <a:rPr sz="1500" b="1">
                <a:solidFill>
                  <a:srgbClr val="566174"/>
                </a:solidFill>
              </a:rPr>
              <a:t>攝靈者卡牌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B8196-84C1-453A-89B1-26056222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B64214"/>
                </a:solidFill>
              </a:defRPr>
            </a:pPr>
            <a:r>
              <a:rPr sz="1800" b="1">
                <a:solidFill>
                  <a:srgbClr val="B64214"/>
                </a:solidFill>
              </a:rPr>
              <a:t>Q&amp;A / 你想把什麼拍成怪獸？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70686-3F1F-4264-958B-19D8C5E9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981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66174"/>
                </a:solidFill>
              </a:defRPr>
            </a:pPr>
            <a:r>
              <a:rPr sz="975" b="1">
                <a:solidFill>
                  <a:srgbClr val="566174"/>
                </a:solidFill>
              </a:rPr>
              <a:t>Xcode · Codex · SwiftUI</a:t>
            </a:r>
          </a:p>
        </p:txBody>
      </p:sp>
    </p:spTree>
    <p:extLst>
      <p:ext uri="{BB962C8B-B14F-4D97-AF65-F5344CB8AC3E}">
        <p14:creationId xmlns:p14="http://schemas.microsoft.com/office/powerpoint/2010/main" val="406876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2026-07-26T04:40:46.0260000Z</dcterms:created>
  <dcterms:modified xsi:type="dcterms:W3CDTF">2026-07-26T04:40:46.0260000Z</dcterms:modified>
</coreProperties>
</file>