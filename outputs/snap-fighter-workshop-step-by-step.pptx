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b12ee2b673f4c2d" /><Relationship Type="http://schemas.openxmlformats.org/officeDocument/2006/relationships/extended-properties" Target="/docProps/app.xml" Id="Rf43f5e7843e94c8b" /><Relationship Type="http://schemas.openxmlformats.org/officeDocument/2006/relationships/officeDocument" Target="/ppt/presentation.xml" Id="R31c299acc6b24dc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cd7e02966d54092"/>
  </p:sldMasterIdLst>
  <p:notesMasterIdLst>
    <p:notesMasterId xmlns:r="http://schemas.openxmlformats.org/officeDocument/2006/relationships" r:id="R289f63ef400548c2"/>
  </p:notesMasterIdLst>
  <p:sldIdLst>
    <p:sldId xmlns:r="http://schemas.openxmlformats.org/officeDocument/2006/relationships" id="256" r:id="R76984ccdce6c4ae8"/>
    <p:sldId xmlns:r="http://schemas.openxmlformats.org/officeDocument/2006/relationships" id="257" r:id="Rbffc7da2be4e407e"/>
    <p:sldId xmlns:r="http://schemas.openxmlformats.org/officeDocument/2006/relationships" id="258" r:id="Rcc4959ab162546f3"/>
    <p:sldId xmlns:r="http://schemas.openxmlformats.org/officeDocument/2006/relationships" id="259" r:id="R8cbe67aa027b45fe"/>
    <p:sldId xmlns:r="http://schemas.openxmlformats.org/officeDocument/2006/relationships" id="260" r:id="Rb5d6bc9ad42e4829"/>
    <p:sldId xmlns:r="http://schemas.openxmlformats.org/officeDocument/2006/relationships" id="261" r:id="R98960d61196d4cfa"/>
    <p:sldId xmlns:r="http://schemas.openxmlformats.org/officeDocument/2006/relationships" id="262" r:id="R991e8ae6b8a84cd0"/>
    <p:sldId xmlns:r="http://schemas.openxmlformats.org/officeDocument/2006/relationships" id="263" r:id="R90c8cad2eed2448b"/>
    <p:sldId xmlns:r="http://schemas.openxmlformats.org/officeDocument/2006/relationships" id="264" r:id="R27e971f4391d481c"/>
    <p:sldId xmlns:r="http://schemas.openxmlformats.org/officeDocument/2006/relationships" id="265" r:id="Rba27431406e44c31"/>
    <p:sldId xmlns:r="http://schemas.openxmlformats.org/officeDocument/2006/relationships" id="266" r:id="Rcf20fa364cf04e29"/>
    <p:sldId xmlns:r="http://schemas.openxmlformats.org/officeDocument/2006/relationships" id="267" r:id="Rb5bd5b69eaf14c06"/>
    <p:sldId xmlns:r="http://schemas.openxmlformats.org/officeDocument/2006/relationships" id="268" r:id="R4bc433fdc3c94bc7"/>
    <p:sldId xmlns:r="http://schemas.openxmlformats.org/officeDocument/2006/relationships" id="269" r:id="R7bf6324961774627"/>
    <p:sldId xmlns:r="http://schemas.openxmlformats.org/officeDocument/2006/relationships" id="270" r:id="R3981bf14e1cc41a2"/>
    <p:sldId xmlns:r="http://schemas.openxmlformats.org/officeDocument/2006/relationships" id="271" r:id="R9af3d6f0ab874742"/>
    <p:sldId xmlns:r="http://schemas.openxmlformats.org/officeDocument/2006/relationships" id="272" r:id="R61f4fc4957ec4ab7"/>
    <p:sldId xmlns:r="http://schemas.openxmlformats.org/officeDocument/2006/relationships" id="273" r:id="Rb6ec49ee55a44d88"/>
    <p:sldId xmlns:r="http://schemas.openxmlformats.org/officeDocument/2006/relationships" id="274" r:id="R20d18b35fda34b3f"/>
    <p:sldId xmlns:r="http://schemas.openxmlformats.org/officeDocument/2006/relationships" id="275" r:id="Rbcbf4a5946164bec"/>
    <p:sldId xmlns:r="http://schemas.openxmlformats.org/officeDocument/2006/relationships" id="276" r:id="Rfcba6f884ca94574"/>
    <p:sldId xmlns:r="http://schemas.openxmlformats.org/officeDocument/2006/relationships" id="277" r:id="Ree8d987c809e4e9d"/>
    <p:sldId xmlns:r="http://schemas.openxmlformats.org/officeDocument/2006/relationships" id="278" r:id="R16f7bb26a6a64a76"/>
    <p:sldId xmlns:r="http://schemas.openxmlformats.org/officeDocument/2006/relationships" id="279" r:id="Ra20aca71ce2b4015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69e11e3c2c24f8c" /><Relationship Type="http://schemas.openxmlformats.org/officeDocument/2006/relationships/slideMaster" Target="/ppt/slideMasters/slideMaster1.xml" Id="Rccd7e02966d54092" /><Relationship Type="http://schemas.openxmlformats.org/officeDocument/2006/relationships/notesMaster" Target="/ppt/notesMasters/notesMaster1.xml" Id="R289f63ef400548c2" /><Relationship Type="http://schemas.openxmlformats.org/officeDocument/2006/relationships/presProps" Target="/ppt/presProps.xml" Id="R66b5b170c777482f" /><Relationship Type="http://schemas.openxmlformats.org/officeDocument/2006/relationships/tableStyles" Target="/ppt/tableStyles.xml" Id="R965fc26d7f9e407e" /><Relationship Type="http://schemas.openxmlformats.org/officeDocument/2006/relationships/slide" Target="/ppt/slides/slide1.xml" Id="R76984ccdce6c4ae8" /><Relationship Type="http://schemas.openxmlformats.org/officeDocument/2006/relationships/slide" Target="/ppt/slides/slide2.xml" Id="Rbffc7da2be4e407e" /><Relationship Type="http://schemas.openxmlformats.org/officeDocument/2006/relationships/slide" Target="/ppt/slides/slide3.xml" Id="Rcc4959ab162546f3" /><Relationship Type="http://schemas.openxmlformats.org/officeDocument/2006/relationships/slide" Target="/ppt/slides/slide4.xml" Id="R8cbe67aa027b45fe" /><Relationship Type="http://schemas.openxmlformats.org/officeDocument/2006/relationships/slide" Target="/ppt/slides/slide5.xml" Id="Rb5d6bc9ad42e4829" /><Relationship Type="http://schemas.openxmlformats.org/officeDocument/2006/relationships/slide" Target="/ppt/slides/slide6.xml" Id="R98960d61196d4cfa" /><Relationship Type="http://schemas.openxmlformats.org/officeDocument/2006/relationships/slide" Target="/ppt/slides/slide7.xml" Id="R991e8ae6b8a84cd0" /><Relationship Type="http://schemas.openxmlformats.org/officeDocument/2006/relationships/slide" Target="/ppt/slides/slide8.xml" Id="R90c8cad2eed2448b" /><Relationship Type="http://schemas.openxmlformats.org/officeDocument/2006/relationships/slide" Target="/ppt/slides/slide9.xml" Id="R27e971f4391d481c" /><Relationship Type="http://schemas.openxmlformats.org/officeDocument/2006/relationships/slide" Target="/ppt/slides/slide10.xml" Id="Rba27431406e44c31" /><Relationship Type="http://schemas.openxmlformats.org/officeDocument/2006/relationships/slide" Target="/ppt/slides/slide11.xml" Id="Rcf20fa364cf04e29" /><Relationship Type="http://schemas.openxmlformats.org/officeDocument/2006/relationships/slide" Target="/ppt/slides/slide12.xml" Id="Rb5bd5b69eaf14c06" /><Relationship Type="http://schemas.openxmlformats.org/officeDocument/2006/relationships/slide" Target="/ppt/slides/slide13.xml" Id="R4bc433fdc3c94bc7" /><Relationship Type="http://schemas.openxmlformats.org/officeDocument/2006/relationships/slide" Target="/ppt/slides/slide14.xml" Id="R7bf6324961774627" /><Relationship Type="http://schemas.openxmlformats.org/officeDocument/2006/relationships/slide" Target="/ppt/slides/slide15.xml" Id="R3981bf14e1cc41a2" /><Relationship Type="http://schemas.openxmlformats.org/officeDocument/2006/relationships/slide" Target="/ppt/slides/slide16.xml" Id="R9af3d6f0ab874742" /><Relationship Type="http://schemas.openxmlformats.org/officeDocument/2006/relationships/slide" Target="/ppt/slides/slide17.xml" Id="R61f4fc4957ec4ab7" /><Relationship Type="http://schemas.openxmlformats.org/officeDocument/2006/relationships/slide" Target="/ppt/slides/slide18.xml" Id="Rb6ec49ee55a44d88" /><Relationship Type="http://schemas.openxmlformats.org/officeDocument/2006/relationships/slide" Target="/ppt/slides/slide19.xml" Id="R20d18b35fda34b3f" /><Relationship Type="http://schemas.openxmlformats.org/officeDocument/2006/relationships/slide" Target="/ppt/slides/slide20.xml" Id="Rbcbf4a5946164bec" /><Relationship Type="http://schemas.openxmlformats.org/officeDocument/2006/relationships/slide" Target="/ppt/slides/slide21.xml" Id="Rfcba6f884ca94574" /><Relationship Type="http://schemas.openxmlformats.org/officeDocument/2006/relationships/slide" Target="/ppt/slides/slide22.xml" Id="Ree8d987c809e4e9d" /><Relationship Type="http://schemas.openxmlformats.org/officeDocument/2006/relationships/slide" Target="/ppt/slides/slide23.xml" Id="R16f7bb26a6a64a76" /><Relationship Type="http://schemas.openxmlformats.org/officeDocument/2006/relationships/slide" Target="/ppt/slides/slide24.xml" Id="Ra20aca71ce2b401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2f924ab217b429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2ee513f51214bbd" /><Relationship Type="http://schemas.openxmlformats.org/officeDocument/2006/relationships/notesMaster" Target="/ppt/notesMasters/notesMaster1.xml" Id="Rb3462bd58f8f4cf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20c128ece79423d" /><Relationship Type="http://schemas.openxmlformats.org/officeDocument/2006/relationships/notesMaster" Target="/ppt/notesMasters/notesMaster1.xml" Id="Rf6e54aa1b63c458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86be729abf34df0" /><Relationship Type="http://schemas.openxmlformats.org/officeDocument/2006/relationships/notesMaster" Target="/ppt/notesMasters/notesMaster1.xml" Id="R8b86d3e1833e481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8e726154b2c4aa4" /><Relationship Type="http://schemas.openxmlformats.org/officeDocument/2006/relationships/notesMaster" Target="/ppt/notesMasters/notesMaster1.xml" Id="R04bd09ed4f4b473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c61c04fcab54f00" /><Relationship Type="http://schemas.openxmlformats.org/officeDocument/2006/relationships/notesMaster" Target="/ppt/notesMasters/notesMaster1.xml" Id="R4ddd981255ec46b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d8675f016d7490a" /><Relationship Type="http://schemas.openxmlformats.org/officeDocument/2006/relationships/notesMaster" Target="/ppt/notesMasters/notesMaster1.xml" Id="R2b9e1948d43642bc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504b9657623f409a" /><Relationship Type="http://schemas.openxmlformats.org/officeDocument/2006/relationships/notesMaster" Target="/ppt/notesMasters/notesMaster1.xml" Id="Ra171d3153a3a4d8a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1d033335bd544798" /><Relationship Type="http://schemas.openxmlformats.org/officeDocument/2006/relationships/notesMaster" Target="/ppt/notesMasters/notesMaster1.xml" Id="R1744fe7401084f1d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e66a32ecf38b4755" /><Relationship Type="http://schemas.openxmlformats.org/officeDocument/2006/relationships/notesMaster" Target="/ppt/notesMasters/notesMaster1.xml" Id="Rbb08406f158e4b97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f1420c15085f4d34" /><Relationship Type="http://schemas.openxmlformats.org/officeDocument/2006/relationships/notesMaster" Target="/ppt/notesMasters/notesMaster1.xml" Id="R8fd850996a304296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087685ca59b74981" /><Relationship Type="http://schemas.openxmlformats.org/officeDocument/2006/relationships/notesMaster" Target="/ppt/notesMasters/notesMaster1.xml" Id="R20e58cd2b2ab4df3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5184fad8ed734549" /><Relationship Type="http://schemas.openxmlformats.org/officeDocument/2006/relationships/notesMaster" Target="/ppt/notesMasters/notesMaster1.xml" Id="R1e438c85e2ab411e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4e7237bfe15a466c" /><Relationship Type="http://schemas.openxmlformats.org/officeDocument/2006/relationships/notesMaster" Target="/ppt/notesMasters/notesMaster1.xml" Id="R5b4233be33e645e2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e276fada70e341d4" /><Relationship Type="http://schemas.openxmlformats.org/officeDocument/2006/relationships/notesMaster" Target="/ppt/notesMasters/notesMaster1.xml" Id="R26c6962bea1a494e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9bdc3fa07b79498d" /><Relationship Type="http://schemas.openxmlformats.org/officeDocument/2006/relationships/notesMaster" Target="/ppt/notesMasters/notesMaster1.xml" Id="Ra185aabe7e764768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7925410ce146472e" /><Relationship Type="http://schemas.openxmlformats.org/officeDocument/2006/relationships/notesMaster" Target="/ppt/notesMasters/notesMaster1.xml" Id="Re0c67f7a87e2497d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76d31976506b451a" /><Relationship Type="http://schemas.openxmlformats.org/officeDocument/2006/relationships/notesMaster" Target="/ppt/notesMasters/notesMaster1.xml" Id="R2b653a7d199f4c05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74afdc6b515a4d57" /><Relationship Type="http://schemas.openxmlformats.org/officeDocument/2006/relationships/notesMaster" Target="/ppt/notesMasters/notesMaster1.xml" Id="R2f6da51c1f0a453f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0dad072aa4ef44c4" /><Relationship Type="http://schemas.openxmlformats.org/officeDocument/2006/relationships/notesMaster" Target="/ppt/notesMasters/notesMaster1.xml" Id="Rb10be0ae37754738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35286644b6804afd" /><Relationship Type="http://schemas.openxmlformats.org/officeDocument/2006/relationships/notesMaster" Target="/ppt/notesMasters/notesMaster1.xml" Id="R90fc623bc9614051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f496a6a570754702" /><Relationship Type="http://schemas.openxmlformats.org/officeDocument/2006/relationships/notesMaster" Target="/ppt/notesMasters/notesMaster1.xml" Id="R952e4a71a7364656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c13dd3f8918a4f51" /><Relationship Type="http://schemas.openxmlformats.org/officeDocument/2006/relationships/notesMaster" Target="/ppt/notesMasters/notesMaster1.xml" Id="Rb47a1f937d3e4163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32c6cb994d5a497e" /><Relationship Type="http://schemas.openxmlformats.org/officeDocument/2006/relationships/notesMaster" Target="/ppt/notesMasters/notesMaster1.xml" Id="Rdc3b970e11cb4e70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a497e6fd0dfa44f3" /><Relationship Type="http://schemas.openxmlformats.org/officeDocument/2006/relationships/notesMaster" Target="/ppt/notesMasters/notesMaster1.xml" Id="Ra9775d90b8d0412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/Users/hedula/Workspace/snap_fighter_demo/Snap Fighter/README.md</a:t>
            </a:r>
          </a:p>
          <a:p xmlns:a="http://schemas.openxmlformats.org/drawingml/2006/main">
            <a:r>
              <a:t>- /Users/hedula/Workspace/snap_fighter_demo/Snap Fighter/.development_document/0_context/current_project_status.md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/Users/hedula/Workspace/snap_fighter_demo/Snap Fighter/README.md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/Users/hedula/Workspace/snap_fighter_demo/Snap Fighter/README.md</a:t>
            </a:r>
          </a:p>
          <a:p xmlns:a="http://schemas.openxmlformats.org/drawingml/2006/main">
            <a:r>
              <a:t>- /Users/hedula/Workspace/snap_fighter_demo/Snap Fighter/Snap Fighter.xcodeproj/project.pbxproj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完整 Prompt：</a:t>
            </a:r>
          </a:p>
          <a:p xmlns:a="http://schemas.openxmlformats.org/drawingml/2006/main">
            <a:r>
              <a:t>請檢查目前 Xcode 專案。建立 Models、Services、ViewModels、Views 資料夾與 Monster.swift、AIService.swift、GameViewModel.swift、CameraView.swift、CardView.swift、BattleView.swift。不要修改 target、bundle identifier。完成後執行 build 並回報修改檔案與驗證結果。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/Users/hedula/Workspace/snap_fighter_demo/Snap Fighter/Snap Fighter/Models/Monster.swift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完整 Prompt：</a:t>
            </a:r>
          </a:p>
          <a:p xmlns:a="http://schemas.openxmlformats.org/drawingml/2006/main">
            <a:r>
              <a:t>請建立 Monster 與 MonsterResponse。Monster 包含 id、name、element、hp、atk、def、skill、currentHp；Element 只允許火、水、草、電、暗、一般。提供兩隻 mock data；currentHp 預設等於 hp；MonsterResponse 必須可用 JSONDecoder 解碼。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/Users/hedula/Workspace/snap_fighter_demo/Snap Fighter/Snap Fighter/ViewModels/GameViewModel.swift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完整 Prompt：</a:t>
            </a:r>
          </a:p>
          <a:p xmlns:a="http://schemas.openxmlformats.org/drawingml/2006/main">
            <a:r>
              <a:t>請建立 @MainActor GameViewModel 與 AppState：idle、showCard(Monster)、readyToBattle、battling、result(Monster)。ContentView 依 state 切換畫面；狀態轉換放在 ViewModel；先用 mock data 跑通。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/Users/hedula/Workspace/snap_fighter_demo/Snap Fighter/Snap Fighter/Views/CameraView.swift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完整 Prompt：</a:t>
            </a:r>
          </a:p>
          <a:p xmlns:a="http://schemas.openxmlformats.org/drawingml/2006/main">
            <a:r>
              <a:t>請建立 CameraView。實機使用 UIImagePickerController；相簿與模擬器使用 PHPickerViewController。選到圖片回傳 UIImage；取消關閉 sheet；相機不可用時退回相簿；delegate 回呼回到 MainActor。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/Users/hedula/Workspace/snap_fighter_demo/Snap Fighter/worker/README.md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/Users/hedula/Workspace/snap_fighter_demo/Snap Fighter/Snap Fighter/Services/AIService.swift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完整 Prompt：</a:t>
            </a:r>
          </a:p>
          <a:p xmlns:a="http://schemas.openxmlformats.org/drawingml/2006/main">
            <a:r>
              <a:t>請建立 AIService.analyze(image:) async throws -&gt; Monster。將圖片縮到最長 1536px、JPEG quality 0.72，POST {"imageBase64": "..."} 到 WORKER_ANALYZE_ENDPOINT，timeout 30 秒，檢查 HTTP 200，解碼 MonsterResponse。分開處理 HTTP、timeout、JSON 錯誤，保留 retry 與 mock 路徑。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/Users/hedula/Workspace/snap_fighter_demo/Snap Fighter/Snap Fighter/ViewModels/GameViewModel.swift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/Users/hedula/Workspace/snap_fighter_demo/Snap Fighter/Snap Fighter/Models/BattleSession.swift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完整 Prompt：</a:t>
            </a:r>
          </a:p>
          <a:p xmlns:a="http://schemas.openxmlformats.org/drawingml/2006/main">
            <a:r>
              <a:t>請建立 BattleSession，管理 player、opponent、turn、winner。先完成 attack：更新 currentHp；HP &lt;= 0 設定 winner；否則切換回合。BattleView 持有 @State session；按鈕只呼叫 performAction；每次 action 後 HP 必須更新。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/Users/hedula/Workspace/snap_fighter_demo/Snap Fighter/Snap Fighter/ViewModels/GameViewModel.swift</a:t>
            </a:r>
          </a:p>
          <a:p xmlns:a="http://schemas.openxmlformats.org/drawingml/2006/main">
            <a:r>
              <a:t>- /Users/hedula/Workspace/snap_fighter_demo/Snap Fighter/Snap Fighter/Models/BattleSession.swift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/Users/hedula/Workspace/snap_fighter_demo/Snap Fighter/README.md</a:t>
            </a:r>
          </a:p>
          <a:p xmlns:a="http://schemas.openxmlformats.org/drawingml/2006/main">
            <a:r>
              <a:t>- /Users/hedula/Workspace/snap_fighter_demo/Snap Fighter/Snap Fighter/Config.swift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5e246bd680d408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8b1a57f223848ca" /><Relationship Type="http://schemas.openxmlformats.org/officeDocument/2006/relationships/slideLayout" Target="/ppt/slideLayouts/slideLayout1.xml" Id="Rb0fefb1e4aec4bb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0fefb1e4aec4bb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7d4b9ae5dbc4603" /><Relationship Type="http://schemas.openxmlformats.org/officeDocument/2006/relationships/image" Target="/ppt/media/image.png" Id="Rabff16d579c64b93" /><Relationship Type="http://schemas.openxmlformats.org/officeDocument/2006/relationships/image" Target="/ppt/media/image2.png" Id="R4019b1424fe24b3b" /><Relationship Type="http://schemas.openxmlformats.org/officeDocument/2006/relationships/image" Target="/ppt/media/image3.png" Id="R8d5fd0572e1541e9" /><Relationship Type="http://schemas.openxmlformats.org/officeDocument/2006/relationships/notesSlide" Target="/ppt/notesSlides/notesSlide1.xml" Id="R03376c1096314d3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91d2c99188a4222" /><Relationship Type="http://schemas.openxmlformats.org/officeDocument/2006/relationships/image" Target="/ppt/media/image4.png" Id="Rc061c6bc7cf44a67" /><Relationship Type="http://schemas.openxmlformats.org/officeDocument/2006/relationships/image" Target="/ppt/media/image5.png" Id="R4a7f27d973ac417c" /><Relationship Type="http://schemas.openxmlformats.org/officeDocument/2006/relationships/notesSlide" Target="/ppt/notesSlides/notesSlide2.xml" Id="Rced5cbc9ce1044a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54719b5f15f482a" /><Relationship Type="http://schemas.openxmlformats.org/officeDocument/2006/relationships/notesSlide" Target="/ppt/notesSlides/notesSlide3.xml" Id="Re641da6730714be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607e863dfe741d8" /><Relationship Type="http://schemas.openxmlformats.org/officeDocument/2006/relationships/notesSlide" Target="/ppt/notesSlides/notesSlide4.xml" Id="R5b935ab87d48463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3ab3e19eb054835" /><Relationship Type="http://schemas.openxmlformats.org/officeDocument/2006/relationships/notesSlide" Target="/ppt/notesSlides/notesSlide5.xml" Id="R791096dc372240c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8f250d0ddc44261" /><Relationship Type="http://schemas.openxmlformats.org/officeDocument/2006/relationships/notesSlide" Target="/ppt/notesSlides/notesSlide6.xml" Id="R2e25a4f963594c1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53a84cc33db423b" /><Relationship Type="http://schemas.openxmlformats.org/officeDocument/2006/relationships/notesSlide" Target="/ppt/notesSlides/notesSlide7.xml" Id="R5a72c1d841014938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da4773f7e804f01" /><Relationship Type="http://schemas.openxmlformats.org/officeDocument/2006/relationships/notesSlide" Target="/ppt/notesSlides/notesSlide8.xml" Id="Rc641ff14f554463f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3829480a12a4bb9" /><Relationship Type="http://schemas.openxmlformats.org/officeDocument/2006/relationships/notesSlide" Target="/ppt/notesSlides/notesSlide9.xml" Id="R55e5f4d168f84a99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25a6c180fdd48b0" /><Relationship Type="http://schemas.openxmlformats.org/officeDocument/2006/relationships/notesSlide" Target="/ppt/notesSlides/notesSlide10.xml" Id="R4c6e805916244da5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c2212abfebb4223" /><Relationship Type="http://schemas.openxmlformats.org/officeDocument/2006/relationships/notesSlide" Target="/ppt/notesSlides/notesSlide11.xml" Id="R73e567dc049c4ccb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81bfd353ffc45ea" /><Relationship Type="http://schemas.openxmlformats.org/officeDocument/2006/relationships/notesSlide" Target="/ppt/notesSlides/notesSlide12.xml" Id="R7f2231c985c14327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3ab74d10a89448c" /><Relationship Type="http://schemas.openxmlformats.org/officeDocument/2006/relationships/notesSlide" Target="/ppt/notesSlides/notesSlide13.xml" Id="R947b764bdcbd469e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e0b63c52dcc441c" /><Relationship Type="http://schemas.openxmlformats.org/officeDocument/2006/relationships/notesSlide" Target="/ppt/notesSlides/notesSlide14.xml" Id="R23ccf3bc79da4b11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c8f1d37e4e44df3" /><Relationship Type="http://schemas.openxmlformats.org/officeDocument/2006/relationships/notesSlide" Target="/ppt/notesSlides/notesSlide15.xml" Id="Rac37210da61545d2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401abf982134e6d" /><Relationship Type="http://schemas.openxmlformats.org/officeDocument/2006/relationships/notesSlide" Target="/ppt/notesSlides/notesSlide16.xml" Id="R4bded48a28914149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90eaa6bd9194aaa" /><Relationship Type="http://schemas.openxmlformats.org/officeDocument/2006/relationships/notesSlide" Target="/ppt/notesSlides/notesSlide17.xml" Id="R3b98ffa39f0049a4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24b750b0d254936" /><Relationship Type="http://schemas.openxmlformats.org/officeDocument/2006/relationships/notesSlide" Target="/ppt/notesSlides/notesSlide18.xml" Id="R28df1435b47b48cd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44a6aa8088544ba" /><Relationship Type="http://schemas.openxmlformats.org/officeDocument/2006/relationships/notesSlide" Target="/ppt/notesSlides/notesSlide19.xml" Id="Rde062fef6fdf48e1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52e055afe094205" /><Relationship Type="http://schemas.openxmlformats.org/officeDocument/2006/relationships/image" Target="/ppt/media/image4.png" Id="Rb3b82c9bd8d643e0" /><Relationship Type="http://schemas.openxmlformats.org/officeDocument/2006/relationships/image" Target="/ppt/media/image5.png" Id="R6d0ad6d23d40448c" /><Relationship Type="http://schemas.openxmlformats.org/officeDocument/2006/relationships/notesSlide" Target="/ppt/notesSlides/notesSlide20.xml" Id="R5d27c7c4fa934dbd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0ec62fa18194a8f" /><Relationship Type="http://schemas.openxmlformats.org/officeDocument/2006/relationships/notesSlide" Target="/ppt/notesSlides/notesSlide21.xml" Id="R6b7e88d9ce8a4b15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319037eee104eb4" /><Relationship Type="http://schemas.openxmlformats.org/officeDocument/2006/relationships/notesSlide" Target="/ppt/notesSlides/notesSlide22.xml" Id="Rd563b3d96d344d7c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b33cd3f962e458a" /><Relationship Type="http://schemas.openxmlformats.org/officeDocument/2006/relationships/notesSlide" Target="/ppt/notesSlides/notesSlide23.xml" Id="R405abbd61eb5474a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e8baa72c1ab4747" /><Relationship Type="http://schemas.openxmlformats.org/officeDocument/2006/relationships/image" Target="/ppt/media/image6.png" Id="Rd5751383a1d64c3c" /><Relationship Type="http://schemas.openxmlformats.org/officeDocument/2006/relationships/notesSlide" Target="/ppt/notesSlides/notesSlide24.xml" Id="R6935c4c1905a4a7a" /></Relationships>
</file>

<file path=ppt/slides/slide1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F7F6F2"/>
            </a:gs>
            <a:gs pos="60000">
              <a:srgbClr val="EEF3FF"/>
            </a:gs>
            <a:gs pos="100000">
              <a:srgbClr val="FFF1E9"/>
            </a:gs>
          </a:gsLst>
          <a:lin ang="810000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bff16d579c64b93"/>
          <a:srcRect xmlns:a="http://schemas.openxmlformats.org/drawingml/2006/main" l="0" t="12152" r="0" b="1215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001000" y="0"/>
            <a:ext cx="4191000" cy="6858000"/>
          </a:xfrm>
          <a:prstGeom xmlns:a="http://schemas.openxmlformats.org/drawingml/2006/main" prst="roundRect">
            <a:avLst>
              <a:gd name="adj" fmla="val 5000"/>
            </a:avLst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4D5FA38-72DD-4C45-8920-2F2D19675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0"/>
            <a:ext cx="4953000" cy="6858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7F6F2">
              <a:alpha val="7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A073EF0-D052-4B77-9D56-E01289B55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552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125" b="1">
                <a:solidFill>
                  <a:srgbClr val="B64214"/>
                </a:solidFill>
              </a:defRPr>
            </a:pPr>
            <a:r>
              <a:rPr sz="1125" b="1">
                <a:solidFill>
                  <a:srgbClr val="B64214"/>
                </a:solidFill>
              </a:rPr>
              <a:t>攝靈者卡牌 / STEP-BY-STEP WORKSHOP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2F27005-C08F-4211-B4AC-2B40E38AD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14450"/>
            <a:ext cx="64770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3900" b="1">
                <a:solidFill>
                  <a:srgbClr val="172033"/>
                </a:solidFill>
              </a:defRPr>
            </a:pPr>
            <a:r>
              <a:rPr sz="3900" b="1">
                <a:solidFill>
                  <a:srgbClr val="172033"/>
                </a:solidFill>
              </a:rPr>
              <a:t>40 分鐘，</a:t>
            </a:r>
          </a:p>
          <a:p xmlns:a="http://schemas.openxmlformats.org/drawingml/2006/main">
            <a:pPr>
              <a:buNone/>
              <a:defRPr sz="3900" b="1">
                <a:solidFill>
                  <a:srgbClr val="172033"/>
                </a:solidFill>
              </a:defRPr>
            </a:pPr>
            <a:r>
              <a:rPr sz="3900" b="1">
                <a:solidFill>
                  <a:srgbClr val="172033"/>
                </a:solidFill>
              </a:rPr>
              <a:t>逐步完成一個</a:t>
            </a:r>
          </a:p>
          <a:p xmlns:a="http://schemas.openxmlformats.org/drawingml/2006/main">
            <a:pPr>
              <a:buNone/>
              <a:defRPr sz="3900" b="1">
                <a:solidFill>
                  <a:srgbClr val="172033"/>
                </a:solidFill>
              </a:defRPr>
            </a:pPr>
            <a:r>
              <a:rPr sz="3900" b="1">
                <a:solidFill>
                  <a:srgbClr val="172033"/>
                </a:solidFill>
              </a:rPr>
              <a:t>AI 怪獸對戰 App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ED7FB81-F7AC-4BA7-B278-41A9E7254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714750"/>
            <a:ext cx="619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Xcode + Codex：從空專案跑到第一場戰鬥。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A8826B2-A202-4C08-99D6-D12254503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72000"/>
            <a:ext cx="11430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5B2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941699C-5386-46C9-8031-4ACD14E1A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619625"/>
            <a:ext cx="114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F7F6F2"/>
                </a:solidFill>
              </a:defRPr>
            </a:pPr>
            <a:r>
              <a:rPr sz="975" b="1">
                <a:solidFill>
                  <a:srgbClr val="F7F6F2"/>
                </a:solidFill>
              </a:rPr>
              <a:t>Model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926E3EB-6AA8-4BBF-A351-7089E3D85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4619625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566174"/>
                </a:solidFill>
              </a:defRPr>
            </a:pPr>
            <a:r>
              <a:rPr sz="1800" b="1">
                <a:solidFill>
                  <a:srgbClr val="566174"/>
                </a:solidFill>
              </a:rPr>
              <a:t>→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B8B23F9-2D6A-41B1-AC38-3D976AB18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4572000"/>
            <a:ext cx="11430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87EA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EEE4FB6-DC34-433B-9B49-F097E6569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4619625"/>
            <a:ext cx="114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F7F6F2"/>
                </a:solidFill>
              </a:defRPr>
            </a:pPr>
            <a:r>
              <a:rPr sz="975" b="1">
                <a:solidFill>
                  <a:srgbClr val="F7F6F2"/>
                </a:solidFill>
              </a:rPr>
              <a:t>AI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8291959-787B-4D90-AACA-CB0284842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4619625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566174"/>
                </a:solidFill>
              </a:defRPr>
            </a:pPr>
            <a:r>
              <a:rPr sz="1800" b="1">
                <a:solidFill>
                  <a:srgbClr val="566174"/>
                </a:solidFill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DACFE83-F6A1-40CF-8219-2CC3A410A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4572000"/>
            <a:ext cx="10477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6946C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532A013-150D-4DA4-81EF-7499B18B0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4619625"/>
            <a:ext cx="1047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F7F6F2"/>
                </a:solidFill>
              </a:defRPr>
            </a:pPr>
            <a:r>
              <a:rPr sz="975" b="1">
                <a:solidFill>
                  <a:srgbClr val="F7F6F2"/>
                </a:solidFill>
              </a:rPr>
              <a:t>Battle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8660168-B590-4EFC-B576-EF7EAAE18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657850"/>
            <a:ext cx="285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566174"/>
                </a:solidFill>
              </a:defRPr>
            </a:pPr>
            <a:r>
              <a:rPr sz="1350" b="1">
                <a:solidFill>
                  <a:srgbClr val="566174"/>
                </a:solidFill>
              </a:rPr>
              <a:t>攝靈者卡牌（Snap Fighter）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5F85C76-86E2-43D5-A0C0-F2E0408D4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905500"/>
            <a:ext cx="447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125" b="0">
                <a:solidFill>
                  <a:srgbClr val="566174"/>
                </a:solidFill>
              </a:defRPr>
            </a:pPr>
            <a:r>
              <a:rPr sz="1125" b="0">
                <a:solidFill>
                  <a:srgbClr val="566174"/>
                </a:solidFill>
              </a:rPr>
              <a:t>完成的是 Workshop MVP，不是完整商業版本。</a:t>
            </a:r>
          </a:p>
        </p:txBody>
      </p:sp>
      <p:pic>
        <p:nvPicPr>
          <p:cNvPr id="3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019b1424fe24b3b"/>
          <a:srcRect xmlns:a="http://schemas.openxmlformats.org/drawingml/2006/main" l="725" t="0" r="725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572500" y="2781300"/>
            <a:ext cx="1619250" cy="2190750"/>
          </a:xfrm>
          <a:prstGeom xmlns:a="http://schemas.openxmlformats.org/drawingml/2006/main" prst="roundRect">
            <a:avLst>
              <a:gd name="adj" fmla="val 12941"/>
            </a:avLst>
          </a:prstGeom>
        </p:spPr>
      </p:pic>
      <p:pic>
        <p:nvPicPr>
          <p:cNvPr id="3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d5fd0572e1541e9"/>
          <a:srcRect xmlns:a="http://schemas.openxmlformats.org/drawingml/2006/main" l="725" t="0" r="725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944100" y="2476500"/>
            <a:ext cx="1619250" cy="2190750"/>
          </a:xfrm>
          <a:prstGeom xmlns:a="http://schemas.openxmlformats.org/drawingml/2006/main" prst="roundRect">
            <a:avLst>
              <a:gd name="adj" fmla="val 12941"/>
            </a:avLst>
          </a:prstGeom>
        </p:spPr>
      </p:pic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8C5868C-8479-4747-BCDE-BCCC482F9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52197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172033"/>
                </a:solidFill>
              </a:defRPr>
            </a:pPr>
            <a:r>
              <a:rPr sz="1425" b="1">
                <a:solidFill>
                  <a:srgbClr val="172033"/>
                </a:solidFill>
              </a:rPr>
              <a:t>照片 → 怪獸卡 → 對戰</a:t>
            </a:r>
          </a:p>
        </p:txBody>
      </p:sp>
    </p:spTree>
    <p:extLst>
      <p:ext uri="{BB962C8B-B14F-4D97-AF65-F5344CB8AC3E}">
        <p14:creationId xmlns:p14="http://schemas.microsoft.com/office/powerpoint/2010/main" val="494186629"/>
      </p:ext>
    </p:extLst>
  </p:cSld>
</p:sld>
</file>

<file path=ppt/slides/slide2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F7F6F2"/>
            </a:gs>
            <a:gs pos="100000">
              <a:srgbClr val="EEF6FF"/>
            </a:gs>
          </a:gsLst>
          <a:lin ang="810000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F8ED185-D46F-40A9-9995-18EEF076D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619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566174"/>
                </a:solidFill>
              </a:defRPr>
            </a:pPr>
            <a:r>
              <a:rPr sz="975" b="1">
                <a:solidFill>
                  <a:srgbClr val="566174"/>
                </a:solidFill>
              </a:rPr>
              <a:t>攝靈者卡牌 / 完成路徑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E7DA433-3715-4C50-84E6-C8EE06315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723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3150" b="1">
                <a:solidFill>
                  <a:srgbClr val="172033"/>
                </a:solidFill>
              </a:defRPr>
            </a:pPr>
            <a:r>
              <a:rPr sz="3150" b="1">
                <a:solidFill>
                  <a:srgbClr val="172033"/>
                </a:solidFill>
              </a:rPr>
              <a:t>完成後，你會跑通這條路徑。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3923A27-0E12-4822-9B37-29A1BE488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809750"/>
            <a:ext cx="762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425" b="0">
                <a:solidFill>
                  <a:srgbClr val="566174"/>
                </a:solidFill>
              </a:defRPr>
            </a:pPr>
            <a:r>
              <a:rPr sz="1425" b="0">
                <a:solidFill>
                  <a:srgbClr val="566174"/>
                </a:solidFill>
              </a:rPr>
              <a:t>每一步都能單獨驗收；失敗時只回到上一個檢查點。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A1ACD19-3667-49C4-8324-2C7C5B909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895600"/>
            <a:ext cx="1885950" cy="1581150"/>
          </a:xfrm>
          <a:prstGeom xmlns:a="http://schemas.openxmlformats.org/drawingml/2006/main" prst="roundRect">
            <a:avLst>
              <a:gd name="adj" fmla="val 12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E85B2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E294B9E-E925-4E8E-87F9-071E29806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124200"/>
            <a:ext cx="342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950" b="1">
                <a:solidFill>
                  <a:srgbClr val="E85B24"/>
                </a:solidFill>
              </a:defRPr>
            </a:pPr>
            <a:r>
              <a:rPr sz="1950" b="1">
                <a:solidFill>
                  <a:srgbClr val="E85B24"/>
                </a:solidFill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5417550-6256-48E0-8503-EB645F62D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638550"/>
            <a:ext cx="1504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425" b="1">
                <a:solidFill>
                  <a:srgbClr val="172033"/>
                </a:solidFill>
              </a:defRPr>
            </a:pPr>
            <a:r>
              <a:rPr sz="1425" b="1">
                <a:solidFill>
                  <a:srgbClr val="172033"/>
                </a:solidFill>
              </a:rPr>
              <a:t>建立專案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BCF6AC9-76BE-4C95-B8C2-55C43E7E7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076700"/>
            <a:ext cx="1504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 b="0">
                <a:solidFill>
                  <a:srgbClr val="566174"/>
                </a:solidFill>
              </a:defRPr>
            </a:pPr>
            <a:r>
              <a:rPr sz="1050" b="0">
                <a:solidFill>
                  <a:srgbClr val="566174"/>
                </a:solidFill>
              </a:rPr>
              <a:t>Xcode / Run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FB6ADB2-FA7C-42BB-8692-E9DE94C01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3562350"/>
            <a:ext cx="247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B64214"/>
                </a:solidFill>
              </a:defRPr>
            </a:pPr>
            <a:r>
              <a:rPr sz="1500" b="1">
                <a:solidFill>
                  <a:srgbClr val="B64214"/>
                </a:solidFill>
              </a:rPr>
              <a:t>→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3E6D957-13E3-43B7-8F24-E8B6FC8B9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895600"/>
            <a:ext cx="1885950" cy="1581150"/>
          </a:xfrm>
          <a:prstGeom xmlns:a="http://schemas.openxmlformats.org/drawingml/2006/main" prst="roundRect">
            <a:avLst>
              <a:gd name="adj" fmla="val 12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87EA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2001F2C-0701-4217-A506-C99BD4217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124200"/>
            <a:ext cx="342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950" b="1">
                <a:solidFill>
                  <a:srgbClr val="087EA4"/>
                </a:solidFill>
              </a:defRPr>
            </a:pPr>
            <a:r>
              <a:rPr sz="1950" b="1">
                <a:solidFill>
                  <a:srgbClr val="087EA4"/>
                </a:solidFill>
              </a:rPr>
              <a:t>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79E529B-E853-4665-A27A-7A7AC88CD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638550"/>
            <a:ext cx="1504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425" b="1">
                <a:solidFill>
                  <a:srgbClr val="172033"/>
                </a:solidFill>
              </a:defRPr>
            </a:pPr>
            <a:r>
              <a:rPr sz="1425" b="1">
                <a:solidFill>
                  <a:srgbClr val="172033"/>
                </a:solidFill>
              </a:rPr>
              <a:t>定義怪獸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EFABFDA-5CB2-4413-A03D-B935DB268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4076700"/>
            <a:ext cx="1504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 b="0">
                <a:solidFill>
                  <a:srgbClr val="566174"/>
                </a:solidFill>
              </a:defRPr>
            </a:pPr>
            <a:r>
              <a:rPr sz="1050" b="0">
                <a:solidFill>
                  <a:srgbClr val="566174"/>
                </a:solidFill>
              </a:rPr>
              <a:t>Monster / Mock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8A573E7-0474-4C30-B8D2-91A49A486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3562350"/>
            <a:ext cx="247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B64214"/>
                </a:solidFill>
              </a:defRPr>
            </a:pPr>
            <a:r>
              <a:rPr sz="1500" b="1">
                <a:solidFill>
                  <a:srgbClr val="B64214"/>
                </a:solidFill>
              </a:rPr>
              <a:t>→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8815DE0-790C-4724-9078-FA85F267F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2895600"/>
            <a:ext cx="1885950" cy="1581150"/>
          </a:xfrm>
          <a:prstGeom xmlns:a="http://schemas.openxmlformats.org/drawingml/2006/main" prst="roundRect">
            <a:avLst>
              <a:gd name="adj" fmla="val 12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6946C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D8D46BA-1578-4D91-91E7-4F3E1B779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3124200"/>
            <a:ext cx="342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950" b="1">
                <a:solidFill>
                  <a:srgbClr val="6946C1"/>
                </a:solidFill>
              </a:defRPr>
            </a:pPr>
            <a:r>
              <a:rPr sz="1950" b="1">
                <a:solidFill>
                  <a:srgbClr val="6946C1"/>
                </a:solidFill>
              </a:rPr>
              <a:t>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49C5F9E-DC6C-44DE-8375-8842356E5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3638550"/>
            <a:ext cx="1504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425" b="1">
                <a:solidFill>
                  <a:srgbClr val="172033"/>
                </a:solidFill>
              </a:defRPr>
            </a:pPr>
            <a:r>
              <a:rPr sz="1425" b="1">
                <a:solidFill>
                  <a:srgbClr val="172033"/>
                </a:solidFill>
              </a:rPr>
              <a:t>照片生成卡牌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D10D5CF-0303-4E6E-ACB1-7F93D6409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4076700"/>
            <a:ext cx="1504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 b="0">
                <a:solidFill>
                  <a:srgbClr val="566174"/>
                </a:solidFill>
              </a:defRPr>
            </a:pPr>
            <a:r>
              <a:rPr sz="1050" b="0">
                <a:solidFill>
                  <a:srgbClr val="566174"/>
                </a:solidFill>
              </a:rPr>
              <a:t>Camera / AI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DDDB92A-2DB2-4721-85FA-AF4CCF9F6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3562350"/>
            <a:ext cx="247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B64214"/>
                </a:solidFill>
              </a:defRPr>
            </a:pPr>
            <a:r>
              <a:rPr sz="1500" b="1">
                <a:solidFill>
                  <a:srgbClr val="B64214"/>
                </a:solidFill>
              </a:rPr>
              <a:t>→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71B88E4-9B72-4756-B863-392365021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2895600"/>
            <a:ext cx="1885950" cy="1581150"/>
          </a:xfrm>
          <a:prstGeom xmlns:a="http://schemas.openxmlformats.org/drawingml/2006/main" prst="roundRect">
            <a:avLst>
              <a:gd name="adj" fmla="val 12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E7D32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99AAF04-73D5-4FED-9EBD-FDA6D3AC5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3124200"/>
            <a:ext cx="342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950" b="1">
                <a:solidFill>
                  <a:srgbClr val="2E7D32"/>
                </a:solidFill>
              </a:defRPr>
            </a:pPr>
            <a:r>
              <a:rPr sz="1950" b="1">
                <a:solidFill>
                  <a:srgbClr val="2E7D32"/>
                </a:solidFill>
              </a:rPr>
              <a:t>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2EFC467-D2AF-4590-AC21-C369EA327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3638550"/>
            <a:ext cx="1504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425" b="1">
                <a:solidFill>
                  <a:srgbClr val="172033"/>
                </a:solidFill>
              </a:defRPr>
            </a:pPr>
            <a:r>
              <a:rPr sz="1425" b="1">
                <a:solidFill>
                  <a:srgbClr val="172033"/>
                </a:solidFill>
              </a:rPr>
              <a:t>兩隻開始對戰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AAE2A9D-BFC4-4C6A-B086-FEC7B3A5E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4076700"/>
            <a:ext cx="1504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 b="0">
                <a:solidFill>
                  <a:srgbClr val="566174"/>
                </a:solidFill>
              </a:defRPr>
            </a:pPr>
            <a:r>
              <a:rPr sz="1050" b="0">
                <a:solidFill>
                  <a:srgbClr val="566174"/>
                </a:solidFill>
              </a:rPr>
              <a:t>BattleSession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3AAFE24-6D0E-4938-A028-872B2A6EF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3562350"/>
            <a:ext cx="247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B64214"/>
                </a:solidFill>
              </a:defRPr>
            </a:pPr>
            <a:r>
              <a:rPr sz="1500" b="1">
                <a:solidFill>
                  <a:srgbClr val="B64214"/>
                </a:solidFill>
              </a:rPr>
              <a:t>→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B0BB2AA-27D8-4F96-89EE-A00F9EBA8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2895600"/>
            <a:ext cx="1885950" cy="1581150"/>
          </a:xfrm>
          <a:prstGeom xmlns:a="http://schemas.openxmlformats.org/drawingml/2006/main" prst="roundRect">
            <a:avLst>
              <a:gd name="adj" fmla="val 12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B64214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112B5E9-0511-4A80-9FB9-96DF671B0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3124200"/>
            <a:ext cx="342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950" b="1">
                <a:solidFill>
                  <a:srgbClr val="B64214"/>
                </a:solidFill>
              </a:defRPr>
            </a:pPr>
            <a:r>
              <a:rPr sz="1950" b="1">
                <a:solidFill>
                  <a:srgbClr val="B64214"/>
                </a:solidFill>
              </a:rPr>
              <a:t>5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801A677-0597-46D4-83C2-96C3A5AF4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3638550"/>
            <a:ext cx="1504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425" b="1">
                <a:solidFill>
                  <a:srgbClr val="172033"/>
                </a:solidFill>
              </a:defRPr>
            </a:pPr>
            <a:r>
              <a:rPr sz="1425" b="1">
                <a:solidFill>
                  <a:srgbClr val="172033"/>
                </a:solidFill>
              </a:rPr>
              <a:t>顯示結果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622B59A-ABED-477A-81F0-2086C0A41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4076700"/>
            <a:ext cx="1504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 b="0">
                <a:solidFill>
                  <a:srgbClr val="566174"/>
                </a:solidFill>
              </a:defRPr>
            </a:pPr>
            <a:r>
              <a:rPr sz="1050" b="0">
                <a:solidFill>
                  <a:srgbClr val="566174"/>
                </a:solidFill>
              </a:rPr>
              <a:t>Result / Reset</a:t>
            </a:r>
          </a:p>
        </p:txBody>
      </p:sp>
      <p:pic>
        <p:nvPicPr>
          <p:cNvPr id="6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061c6bc7cf44a67"/>
          <a:srcRect xmlns:a="http://schemas.openxmlformats.org/drawingml/2006/main" l="0" t="9500" r="0" b="950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877300" y="4876800"/>
            <a:ext cx="952500" cy="1028700"/>
          </a:xfrm>
          <a:prstGeom xmlns:a="http://schemas.openxmlformats.org/drawingml/2006/main" prst="roundRect">
            <a:avLst>
              <a:gd name="adj" fmla="val 22000"/>
            </a:avLst>
          </a:prstGeom>
        </p:spPr>
      </p:pic>
      <p:pic>
        <p:nvPicPr>
          <p:cNvPr id="6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a7f27d973ac417c"/>
          <a:srcRect xmlns:a="http://schemas.openxmlformats.org/drawingml/2006/main" l="0" t="9500" r="0" b="950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925050" y="4876800"/>
            <a:ext cx="952500" cy="1028700"/>
          </a:xfrm>
          <a:prstGeom xmlns:a="http://schemas.openxmlformats.org/drawingml/2006/main" prst="roundRect">
            <a:avLst>
              <a:gd name="adj" fmla="val 22000"/>
            </a:avLst>
          </a:prstGeom>
        </p:spPr>
      </p:pic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3907F7A-B9F2-4498-9A8F-D74F57E01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314950"/>
            <a:ext cx="7429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B64214"/>
                </a:solidFill>
              </a:defRPr>
            </a:pPr>
            <a:r>
              <a:rPr sz="1575" b="1">
                <a:solidFill>
                  <a:srgbClr val="B64214"/>
                </a:solidFill>
              </a:rPr>
              <a:t>先用 mock 跑通，再接網路；不要同時除錯所有層。</a:t>
            </a:r>
          </a:p>
        </p:txBody>
      </p:sp>
    </p:spTree>
    <p:extLst>
      <p:ext uri="{BB962C8B-B14F-4D97-AF65-F5344CB8AC3E}">
        <p14:creationId xmlns:p14="http://schemas.microsoft.com/office/powerpoint/2010/main" val="207011147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6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5AF8D72-E93A-48F6-A9D3-0FE6A2238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566174"/>
                </a:solidFill>
              </a:defRPr>
            </a:pPr>
            <a:r>
              <a:rPr sz="975" b="1">
                <a:solidFill>
                  <a:srgbClr val="566174"/>
                </a:solidFill>
              </a:rPr>
              <a:t>攝靈者卡牌 / STEP-BY-STEP WORKSHOP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82EB03B-61E8-441C-BD62-12C096347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323850"/>
            <a:ext cx="723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75" b="1">
                <a:solidFill>
                  <a:srgbClr val="566174"/>
                </a:solidFill>
              </a:defRPr>
            </a:pPr>
            <a:r>
              <a:rPr sz="975" b="1">
                <a:solidFill>
                  <a:srgbClr val="566174"/>
                </a:solidFill>
              </a:rPr>
              <a:t>03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93B316E-3D4C-4C34-B0D8-36F8B611F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00" b="1">
                <a:solidFill>
                  <a:srgbClr val="566174"/>
                </a:solidFill>
              </a:defRPr>
            </a:pPr>
            <a:r>
              <a:rPr sz="900" b="1">
                <a:solidFill>
                  <a:srgbClr val="566174"/>
                </a:solidFill>
              </a:rPr>
              <a:t>00 / 先定義 MVP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DFFF7A3-4B5F-4248-86B9-A31F0D1A8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198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1E359BE-DF61-4166-AF3B-2DFD124F7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7429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925" b="1">
                <a:solidFill>
                  <a:srgbClr val="172033"/>
                </a:solidFill>
              </a:defRPr>
            </a:pPr>
            <a:r>
              <a:rPr sz="2925" b="1">
                <a:solidFill>
                  <a:srgbClr val="172033"/>
                </a:solidFill>
              </a:rPr>
              <a:t>今天只做能玩的最小版本。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EBD4F76-C10B-4F0B-9416-76B3C7F50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152650"/>
            <a:ext cx="4572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425" b="0">
                <a:solidFill>
                  <a:srgbClr val="566174"/>
                </a:solidFill>
              </a:defRPr>
            </a:pPr>
            <a:r>
              <a:rPr sz="1425" b="0">
                <a:solidFill>
                  <a:srgbClr val="566174"/>
                </a:solidFill>
              </a:rPr>
              <a:t>這份簡報完成 Workshop MVP；收藏、升級與特效留到下一輪。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698FB7F-834B-4607-9528-59BEFB9E1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857500"/>
            <a:ext cx="3333750" cy="219075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71784A7-95C1-403E-B33A-0F19D0611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857500"/>
            <a:ext cx="76200" cy="2190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5B2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962BF84-6EE7-4BA0-BEB4-25DFB5C97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067050"/>
            <a:ext cx="2876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172033"/>
                </a:solidFill>
              </a:defRPr>
            </a:pPr>
            <a:r>
              <a:rPr sz="1650" b="1">
                <a:solidFill>
                  <a:srgbClr val="172033"/>
                </a:solidFill>
              </a:rPr>
              <a:t>MUST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E201C94-819A-4916-BAD5-E4A4A93E6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486150"/>
            <a:ext cx="2876550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0">
                <a:solidFill>
                  <a:srgbClr val="566174"/>
                </a:solidFill>
              </a:defRPr>
            </a:pPr>
            <a:r>
              <a:rPr sz="1275" b="0">
                <a:solidFill>
                  <a:srgbClr val="566174"/>
                </a:solidFill>
              </a:rPr>
              <a:t>專案可執行</a:t>
            </a:r>
          </a:p>
          <a:p xmlns:a="http://schemas.openxmlformats.org/drawingml/2006/main">
            <a:pPr>
              <a:buNone/>
              <a:defRPr sz="1275" b="0">
                <a:solidFill>
                  <a:srgbClr val="566174"/>
                </a:solidFill>
              </a:defRPr>
            </a:pPr>
            <a:r>
              <a:rPr sz="1275" b="0">
                <a:solidFill>
                  <a:srgbClr val="566174"/>
                </a:solidFill>
              </a:rPr>
              <a:t>選照片生成卡牌</a:t>
            </a:r>
          </a:p>
          <a:p xmlns:a="http://schemas.openxmlformats.org/drawingml/2006/main">
            <a:pPr>
              <a:buNone/>
              <a:defRPr sz="1275" b="0">
                <a:solidFill>
                  <a:srgbClr val="566174"/>
                </a:solidFill>
              </a:defRPr>
            </a:pPr>
            <a:r>
              <a:rPr sz="1275" b="0">
                <a:solidFill>
                  <a:srgbClr val="566174"/>
                </a:solidFill>
              </a:rPr>
              <a:t>兩隻進入戰鬥</a:t>
            </a:r>
          </a:p>
          <a:p xmlns:a="http://schemas.openxmlformats.org/drawingml/2006/main">
            <a:pPr>
              <a:buNone/>
              <a:defRPr sz="1275" b="0">
                <a:solidFill>
                  <a:srgbClr val="566174"/>
                </a:solidFill>
              </a:defRPr>
            </a:pPr>
            <a:r>
              <a:rPr sz="1275" b="0">
                <a:solidFill>
                  <a:srgbClr val="566174"/>
                </a:solidFill>
              </a:rPr>
              <a:t>結果可重來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3A0844B-FA53-4DDB-8E31-8507ABD5C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857500"/>
            <a:ext cx="3333750" cy="219075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F1D0B6A-1CDA-4FD4-A5A7-6BAD120E2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857500"/>
            <a:ext cx="76200" cy="2190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87EA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29B2232-7718-45D1-BA26-400BD99D9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6775" y="3067050"/>
            <a:ext cx="2876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172033"/>
                </a:solidFill>
              </a:defRPr>
            </a:pPr>
            <a:r>
              <a:rPr sz="1650" b="1">
                <a:solidFill>
                  <a:srgbClr val="172033"/>
                </a:solidFill>
              </a:rPr>
              <a:t>LATER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CFDA38C-D65A-44E2-AD90-673877A65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6775" y="3486150"/>
            <a:ext cx="2876550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0">
                <a:solidFill>
                  <a:srgbClr val="566174"/>
                </a:solidFill>
              </a:defRPr>
            </a:pPr>
            <a:r>
              <a:rPr sz="1275" b="0">
                <a:solidFill>
                  <a:srgbClr val="566174"/>
                </a:solidFill>
              </a:rPr>
              <a:t>卡牌收藏</a:t>
            </a:r>
          </a:p>
          <a:p xmlns:a="http://schemas.openxmlformats.org/drawingml/2006/main">
            <a:pPr>
              <a:buNone/>
              <a:defRPr sz="1275" b="0">
                <a:solidFill>
                  <a:srgbClr val="566174"/>
                </a:solidFill>
              </a:defRPr>
            </a:pPr>
            <a:r>
              <a:rPr sz="1275" b="0">
                <a:solidFill>
                  <a:srgbClr val="566174"/>
                </a:solidFill>
              </a:rPr>
              <a:t>主副將與冷卻</a:t>
            </a:r>
          </a:p>
          <a:p xmlns:a="http://schemas.openxmlformats.org/drawingml/2006/main">
            <a:pPr>
              <a:buNone/>
              <a:defRPr sz="1275" b="0">
                <a:solidFill>
                  <a:srgbClr val="566174"/>
                </a:solidFill>
              </a:defRPr>
            </a:pPr>
            <a:r>
              <a:rPr sz="1275" b="0">
                <a:solidFill>
                  <a:srgbClr val="566174"/>
                </a:solidFill>
              </a:rPr>
              <a:t>去背與成長系統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12CC311-AFE9-47F2-8220-7FB6EF4CD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857500"/>
            <a:ext cx="3333750" cy="219075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FF3BC3E-3221-4AFD-BD51-116EFC3E4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857500"/>
            <a:ext cx="76200" cy="2190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6946C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0534BD2-656E-4B0E-8FF7-9F01ED50C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067050"/>
            <a:ext cx="2876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172033"/>
                </a:solidFill>
              </a:defRPr>
            </a:pPr>
            <a:r>
              <a:rPr sz="1650" b="1">
                <a:solidFill>
                  <a:srgbClr val="172033"/>
                </a:solidFill>
              </a:rPr>
              <a:t>NOT TODAY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37A53EE-51A9-4AFB-925B-F13DA0EF2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486150"/>
            <a:ext cx="2876550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0">
                <a:solidFill>
                  <a:srgbClr val="566174"/>
                </a:solidFill>
              </a:defRPr>
            </a:pPr>
            <a:r>
              <a:rPr sz="1275" b="0">
                <a:solidFill>
                  <a:srgbClr val="566174"/>
                </a:solidFill>
              </a:rPr>
              <a:t>多人連線</a:t>
            </a:r>
          </a:p>
          <a:p xmlns:a="http://schemas.openxmlformats.org/drawingml/2006/main">
            <a:pPr>
              <a:buNone/>
              <a:defRPr sz="1275" b="0">
                <a:solidFill>
                  <a:srgbClr val="566174"/>
                </a:solidFill>
              </a:defRPr>
            </a:pPr>
            <a:r>
              <a:rPr sz="1275" b="0">
                <a:solidFill>
                  <a:srgbClr val="566174"/>
                </a:solidFill>
              </a:rPr>
              <a:t>商店與抽卡</a:t>
            </a:r>
          </a:p>
          <a:p xmlns:a="http://schemas.openxmlformats.org/drawingml/2006/main">
            <a:pPr>
              <a:buNone/>
              <a:defRPr sz="1275" b="0">
                <a:solidFill>
                  <a:srgbClr val="566174"/>
                </a:solidFill>
              </a:defRPr>
            </a:pPr>
            <a:r>
              <a:rPr sz="1275" b="0">
                <a:solidFill>
                  <a:srgbClr val="566174"/>
                </a:solidFill>
              </a:rPr>
              <a:t>完整戰鬥平衡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4DC8551-5EFE-4CFF-91D2-23D328072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391150"/>
            <a:ext cx="590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B64214"/>
                </a:solidFill>
              </a:defRPr>
            </a:pPr>
            <a:r>
              <a:rPr sz="1575" b="1">
                <a:solidFill>
                  <a:srgbClr val="B64214"/>
                </a:solidFill>
              </a:rPr>
              <a:t>完成標準：選圖 → 卡牌 → 攻擊 → 結果。</a:t>
            </a:r>
          </a:p>
        </p:txBody>
      </p:sp>
    </p:spTree>
    <p:extLst>
      <p:ext uri="{BB962C8B-B14F-4D97-AF65-F5344CB8AC3E}">
        <p14:creationId xmlns:p14="http://schemas.microsoft.com/office/powerpoint/2010/main" val="52473532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6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579378B-BF9D-4891-BB12-99F643FCE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566174"/>
                </a:solidFill>
              </a:defRPr>
            </a:pPr>
            <a:r>
              <a:rPr sz="975" b="1">
                <a:solidFill>
                  <a:srgbClr val="566174"/>
                </a:solidFill>
              </a:rPr>
              <a:t>攝靈者卡牌 / STEP-BY-STEP WORKSHOP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57F2BD9-D57A-45D8-A6F9-B2DE1F15C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323850"/>
            <a:ext cx="723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75" b="1">
                <a:solidFill>
                  <a:srgbClr val="566174"/>
                </a:solidFill>
              </a:defRPr>
            </a:pPr>
            <a:r>
              <a:rPr sz="975" b="1">
                <a:solidFill>
                  <a:srgbClr val="566174"/>
                </a:solidFill>
              </a:rPr>
              <a:t>04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C15352E-507C-4FB4-B642-90D40FC85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00" b="1">
                <a:solidFill>
                  <a:srgbClr val="566174"/>
                </a:solidFill>
              </a:defRPr>
            </a:pPr>
            <a:r>
              <a:rPr sz="900" b="1">
                <a:solidFill>
                  <a:srgbClr val="566174"/>
                </a:solidFill>
              </a:rPr>
              <a:t>00 / 環境檢查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C7180EB-E31C-42CA-8F77-8F7133E60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198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717405A-4989-4CDC-997A-40F46672F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6286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3000" b="1">
                <a:solidFill>
                  <a:srgbClr val="172033"/>
                </a:solidFill>
              </a:defRPr>
            </a:pPr>
            <a:r>
              <a:rPr sz="3000" b="1">
                <a:solidFill>
                  <a:srgbClr val="172033"/>
                </a:solidFill>
              </a:rPr>
              <a:t>開始前，先確認 4 件事。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4F7E119-8CA0-49D5-8E69-0097E4A85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114550"/>
            <a:ext cx="533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425" b="0">
                <a:solidFill>
                  <a:srgbClr val="566174"/>
                </a:solidFill>
              </a:defRPr>
            </a:pPr>
            <a:r>
              <a:rPr sz="1425" b="0">
                <a:solidFill>
                  <a:srgbClr val="566174"/>
                </a:solidFill>
              </a:rPr>
              <a:t>任一項不成立，先修環境，不要急著改 Swift。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B523C6F-33A3-45A9-8FBA-5503F46E9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819400"/>
            <a:ext cx="3238500" cy="1066800"/>
          </a:xfrm>
          <a:prstGeom xmlns:a="http://schemas.openxmlformats.org/drawingml/2006/main" prst="roundRect">
            <a:avLst>
              <a:gd name="adj" fmla="val 160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E2D19B3-22BF-457C-A8EC-A7CC15C76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067050"/>
            <a:ext cx="400050" cy="400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5B2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3B9B7E7-55F9-468D-87D1-AF209066E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143250"/>
            <a:ext cx="4000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F7F6F2"/>
                </a:solidFill>
              </a:defRPr>
            </a:pPr>
            <a:r>
              <a:rPr sz="1425" b="1">
                <a:solidFill>
                  <a:srgbClr val="F7F6F2"/>
                </a:solidFill>
              </a:rPr>
              <a:t>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6FE5B4E-0D3E-442D-B0FE-1A3644E13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04800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172033"/>
                </a:solidFill>
              </a:defRPr>
            </a:pPr>
            <a:r>
              <a:rPr sz="1650" b="1">
                <a:solidFill>
                  <a:srgbClr val="172033"/>
                </a:solidFill>
              </a:rPr>
              <a:t>Xcode 26+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CAF18E9-CC2C-435F-A0EC-458E3DFFF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390900"/>
            <a:ext cx="2190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125" b="0">
                <a:solidFill>
                  <a:srgbClr val="566174"/>
                </a:solidFill>
              </a:defRPr>
            </a:pPr>
            <a:r>
              <a:rPr sz="1125" b="0">
                <a:solidFill>
                  <a:srgbClr val="566174"/>
                </a:solidFill>
              </a:rPr>
              <a:t>可建立 iOS App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E01B7FB-9E8C-448C-8DCD-2A4975B18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2819400"/>
            <a:ext cx="3238500" cy="1066800"/>
          </a:xfrm>
          <a:prstGeom xmlns:a="http://schemas.openxmlformats.org/drawingml/2006/main" prst="roundRect">
            <a:avLst>
              <a:gd name="adj" fmla="val 160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2DD0E31-380E-46DE-ADC6-B6F52F098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3067050"/>
            <a:ext cx="400050" cy="400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87EA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7F662C3-F1D6-47FB-9E5A-95F77FC23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3143250"/>
            <a:ext cx="4000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F7F6F2"/>
                </a:solidFill>
              </a:defRPr>
            </a:pPr>
            <a:r>
              <a:rPr sz="1425" b="1">
                <a:solidFill>
                  <a:srgbClr val="F7F6F2"/>
                </a:solidFill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09E556A-F784-4869-B03A-C1F5A86AC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304800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172033"/>
                </a:solidFill>
              </a:defRPr>
            </a:pPr>
            <a:r>
              <a:rPr sz="1650" b="1">
                <a:solidFill>
                  <a:srgbClr val="172033"/>
                </a:solidFill>
              </a:rPr>
              <a:t>iOS 17+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8C5290F-BEA5-43F0-89FA-963F002A5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3390900"/>
            <a:ext cx="2190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125" b="0">
                <a:solidFill>
                  <a:srgbClr val="566174"/>
                </a:solidFill>
              </a:defRPr>
            </a:pPr>
            <a:r>
              <a:rPr sz="1125" b="0">
                <a:solidFill>
                  <a:srgbClr val="566174"/>
                </a:solidFill>
              </a:rPr>
              <a:t>模擬器能開機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BC87DC0-9F73-43A9-817E-848384572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210050"/>
            <a:ext cx="3238500" cy="1066800"/>
          </a:xfrm>
          <a:prstGeom xmlns:a="http://schemas.openxmlformats.org/drawingml/2006/main" prst="roundRect">
            <a:avLst>
              <a:gd name="adj" fmla="val 160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4949D57-1B76-41DC-95CF-E43EDD51F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457700"/>
            <a:ext cx="400050" cy="400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6946C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67F022C-D0D2-4BA2-9FB1-AE08062AE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533900"/>
            <a:ext cx="4000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F7F6F2"/>
                </a:solidFill>
              </a:defRPr>
            </a:pPr>
            <a:r>
              <a:rPr sz="1425" b="1">
                <a:solidFill>
                  <a:srgbClr val="F7F6F2"/>
                </a:solidFill>
              </a:rPr>
              <a:t>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D838355-E0CF-46AD-90F3-AC896ADBA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4386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172033"/>
                </a:solidFill>
              </a:defRPr>
            </a:pPr>
            <a:r>
              <a:rPr sz="1650" b="1">
                <a:solidFill>
                  <a:srgbClr val="172033"/>
                </a:solidFill>
              </a:rPr>
              <a:t>Codex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D5541C4-55D8-4203-AD15-2354C71CF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781550"/>
            <a:ext cx="2190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125" b="0">
                <a:solidFill>
                  <a:srgbClr val="566174"/>
                </a:solidFill>
              </a:defRPr>
            </a:pPr>
            <a:r>
              <a:rPr sz="1125" b="0">
                <a:solidFill>
                  <a:srgbClr val="566174"/>
                </a:solidFill>
              </a:rPr>
              <a:t>可讀寫目前專案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1EF9ED0-1EFE-45FF-8339-0D81B6200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4210050"/>
            <a:ext cx="3238500" cy="1066800"/>
          </a:xfrm>
          <a:prstGeom xmlns:a="http://schemas.openxmlformats.org/drawingml/2006/main" prst="roundRect">
            <a:avLst>
              <a:gd name="adj" fmla="val 160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FE94CC7-BF4A-4D07-971D-37B2E17BA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4457700"/>
            <a:ext cx="400050" cy="400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E7D3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FE8E391-6C24-4D4C-A24A-036079A34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4533900"/>
            <a:ext cx="4000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F7F6F2"/>
                </a:solidFill>
              </a:defRPr>
            </a:pPr>
            <a:r>
              <a:rPr sz="1425" b="1">
                <a:solidFill>
                  <a:srgbClr val="F7F6F2"/>
                </a:solidFill>
              </a:rPr>
              <a:t>4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5A8CB4B-4A73-4B85-B744-51CD55040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44386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172033"/>
                </a:solidFill>
              </a:defRPr>
            </a:pPr>
            <a:r>
              <a:rPr sz="1650" b="1">
                <a:solidFill>
                  <a:srgbClr val="172033"/>
                </a:solidFill>
              </a:rPr>
              <a:t>網路或 Mock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F3A1262-23B0-4165-AB66-03E47939C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4781550"/>
            <a:ext cx="2190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125" b="0">
                <a:solidFill>
                  <a:srgbClr val="566174"/>
                </a:solidFill>
              </a:defRPr>
            </a:pPr>
            <a:r>
              <a:rPr sz="1125" b="0">
                <a:solidFill>
                  <a:srgbClr val="566174"/>
                </a:solidFill>
              </a:rPr>
              <a:t>AI 失敗仍可繼續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D3C0E64-D376-463C-8E3A-8C80B5FE7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781300"/>
            <a:ext cx="3448050" cy="25146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EAF6FA"/>
          </a:solidFill>
          <a:ln xmlns:a="http://schemas.openxmlformats.org/drawingml/2006/main" w="9525">
            <a:solidFill>
              <a:srgbClr val="087EA4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3F6846F-1F1F-4E4C-B150-7E229328F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048000"/>
            <a:ext cx="2762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087EA4"/>
                </a:solidFill>
              </a:defRPr>
            </a:pPr>
            <a:r>
              <a:rPr sz="1500" b="1">
                <a:solidFill>
                  <a:srgbClr val="087EA4"/>
                </a:solidFill>
              </a:rPr>
              <a:t>本次專案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F2E788B-1D66-4B9B-A9D6-6C886F57D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476625"/>
            <a:ext cx="276225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Platform: iOS</a:t>
            </a:r>
          </a:p>
          <a:p xmlns:a="http://schemas.openxmlformats.org/drawingml/2006/main">
            <a:pPr>
              <a:buNone/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UI: SwiftUI</a:t>
            </a:r>
          </a:p>
          <a:p xmlns:a="http://schemas.openxmlformats.org/drawingml/2006/main">
            <a:pPr>
              <a:buNone/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Language: Swift 5</a:t>
            </a:r>
          </a:p>
          <a:p xmlns:a="http://schemas.openxmlformats.org/drawingml/2006/main">
            <a:pPr>
              <a:buNone/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Target: Snap Fighter</a:t>
            </a:r>
          </a:p>
        </p:txBody>
      </p:sp>
    </p:spTree>
    <p:extLst>
      <p:ext uri="{BB962C8B-B14F-4D97-AF65-F5344CB8AC3E}">
        <p14:creationId xmlns:p14="http://schemas.microsoft.com/office/powerpoint/2010/main" val="128505620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6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825D869-ADC2-4413-A116-B9BBC12D1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566174"/>
                </a:solidFill>
              </a:defRPr>
            </a:pPr>
            <a:r>
              <a:rPr sz="975" b="1">
                <a:solidFill>
                  <a:srgbClr val="566174"/>
                </a:solidFill>
              </a:rPr>
              <a:t>攝靈者卡牌 / STEP-BY-STEP WORKSHOP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261D34F-9236-4F8B-AA52-F06AFCC7B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323850"/>
            <a:ext cx="723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75" b="1">
                <a:solidFill>
                  <a:srgbClr val="566174"/>
                </a:solidFill>
              </a:defRPr>
            </a:pPr>
            <a:r>
              <a:rPr sz="975" b="1">
                <a:solidFill>
                  <a:srgbClr val="566174"/>
                </a:solidFill>
              </a:rPr>
              <a:t>05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B9F8C3C-C87B-48AB-9470-458C4A3C0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00" b="1">
                <a:solidFill>
                  <a:srgbClr val="566174"/>
                </a:solidFill>
              </a:defRPr>
            </a:pPr>
            <a:r>
              <a:rPr sz="900" b="1">
                <a:solidFill>
                  <a:srgbClr val="566174"/>
                </a:solidFill>
              </a:rPr>
              <a:t>STEP 0 / 建立專案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ED4C185-E4E9-4AAA-848D-CB40E787C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198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3320F48-57E4-4D5F-B0D6-EF43721D9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78105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925" b="1">
                <a:solidFill>
                  <a:srgbClr val="172033"/>
                </a:solidFill>
              </a:defRPr>
            </a:pPr>
            <a:r>
              <a:rPr sz="2925" b="1">
                <a:solidFill>
                  <a:srgbClr val="172033"/>
                </a:solidFill>
              </a:rPr>
              <a:t>Step 0 / 建立專案，先看到它跑起來。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CB6068A-7317-4763-8FBA-9774B437B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857500"/>
            <a:ext cx="3276600" cy="1962150"/>
          </a:xfrm>
          <a:prstGeom xmlns:a="http://schemas.openxmlformats.org/drawingml/2006/main" prst="roundRect">
            <a:avLst>
              <a:gd name="adj" fmla="val 1068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E85B2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D39403D-7314-4895-88A9-C244D0419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143250"/>
            <a:ext cx="1047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100" b="1">
                <a:solidFill>
                  <a:srgbClr val="E85B24"/>
                </a:solidFill>
              </a:defRPr>
            </a:pPr>
            <a:r>
              <a:rPr sz="2100" b="1">
                <a:solidFill>
                  <a:srgbClr val="E85B24"/>
                </a:solidFill>
              </a:rPr>
              <a:t>0–2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AF1A887-DD9B-478A-B520-EE723E1DB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619500"/>
            <a:ext cx="266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172033"/>
                </a:solidFill>
              </a:defRPr>
            </a:pPr>
            <a:r>
              <a:rPr sz="1800" b="1">
                <a:solidFill>
                  <a:srgbClr val="172033"/>
                </a:solidFill>
              </a:rPr>
              <a:t>建立 iOS App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26D82D4-4C2A-4459-9A46-1E8571F9C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114800"/>
            <a:ext cx="2667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0">
                <a:solidFill>
                  <a:srgbClr val="566174"/>
                </a:solidFill>
              </a:defRPr>
            </a:pPr>
            <a:r>
              <a:rPr sz="1275" b="0">
                <a:solidFill>
                  <a:srgbClr val="566174"/>
                </a:solidFill>
              </a:rPr>
              <a:t>Product: Snap Fighter</a:t>
            </a:r>
          </a:p>
          <a:p xmlns:a="http://schemas.openxmlformats.org/drawingml/2006/main">
            <a:pPr>
              <a:buNone/>
              <a:defRPr sz="1275" b="0">
                <a:solidFill>
                  <a:srgbClr val="566174"/>
                </a:solidFill>
              </a:defRPr>
            </a:pPr>
            <a:r>
              <a:rPr sz="1275" b="0">
                <a:solidFill>
                  <a:srgbClr val="566174"/>
                </a:solidFill>
              </a:rPr>
              <a:t>Interface: SwiftUI</a:t>
            </a:r>
          </a:p>
          <a:p xmlns:a="http://schemas.openxmlformats.org/drawingml/2006/main">
            <a:pPr>
              <a:buNone/>
              <a:defRPr sz="1275" b="0">
                <a:solidFill>
                  <a:srgbClr val="566174"/>
                </a:solidFill>
              </a:defRPr>
            </a:pPr>
            <a:r>
              <a:rPr sz="1275" b="0">
                <a:solidFill>
                  <a:srgbClr val="566174"/>
                </a:solidFill>
              </a:rPr>
              <a:t>Language: Swift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D05D8CB-653F-4AAC-8FBF-CE75B0F2C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3619500"/>
            <a:ext cx="285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B64214"/>
                </a:solidFill>
              </a:defRPr>
            </a:pPr>
            <a:r>
              <a:rPr sz="1800" b="1">
                <a:solidFill>
                  <a:srgbClr val="B64214"/>
                </a:solidFill>
              </a:rPr>
              <a:t>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260F017-A009-4028-9DB5-D8A1F8476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857500"/>
            <a:ext cx="3276600" cy="1962150"/>
          </a:xfrm>
          <a:prstGeom xmlns:a="http://schemas.openxmlformats.org/drawingml/2006/main" prst="roundRect">
            <a:avLst>
              <a:gd name="adj" fmla="val 1068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87EA4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EABA282-1F85-4894-BBE3-5060BB7AA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143250"/>
            <a:ext cx="1047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100" b="1">
                <a:solidFill>
                  <a:srgbClr val="087EA4"/>
                </a:solidFill>
              </a:defRPr>
            </a:pPr>
            <a:r>
              <a:rPr sz="2100" b="1">
                <a:solidFill>
                  <a:srgbClr val="087EA4"/>
                </a:solidFill>
              </a:rPr>
              <a:t>2–4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BB50682-9B0E-461F-9E2A-619BF572C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619500"/>
            <a:ext cx="266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172033"/>
                </a:solidFill>
              </a:defRPr>
            </a:pPr>
            <a:r>
              <a:rPr sz="1800" b="1">
                <a:solidFill>
                  <a:srgbClr val="172033"/>
                </a:solidFill>
              </a:rPr>
              <a:t>選擇執行環境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314B8D5-6BD1-4DBE-8E2E-02C7922A9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4114800"/>
            <a:ext cx="2667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0">
                <a:solidFill>
                  <a:srgbClr val="566174"/>
                </a:solidFill>
              </a:defRPr>
            </a:pPr>
            <a:r>
              <a:rPr sz="1275" b="0">
                <a:solidFill>
                  <a:srgbClr val="566174"/>
                </a:solidFill>
              </a:rPr>
              <a:t>iPhone Simulator</a:t>
            </a:r>
          </a:p>
          <a:p xmlns:a="http://schemas.openxmlformats.org/drawingml/2006/main">
            <a:pPr>
              <a:buNone/>
              <a:defRPr sz="1275" b="0">
                <a:solidFill>
                  <a:srgbClr val="566174"/>
                </a:solidFill>
              </a:defRPr>
            </a:pPr>
            <a:r>
              <a:rPr sz="1275" b="0">
                <a:solidFill>
                  <a:srgbClr val="566174"/>
                </a:solidFill>
              </a:rPr>
              <a:t>Deployment Target 17.0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A30B10F-A650-4F35-B59F-75832D0FF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619500"/>
            <a:ext cx="285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B64214"/>
                </a:solidFill>
              </a:defRPr>
            </a:pPr>
            <a:r>
              <a:rPr sz="1800" b="1">
                <a:solidFill>
                  <a:srgbClr val="B64214"/>
                </a:solidFill>
              </a:rPr>
              <a:t>→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B66DEA3-3579-404D-AE73-293D75E2B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857500"/>
            <a:ext cx="3276600" cy="1962150"/>
          </a:xfrm>
          <a:prstGeom xmlns:a="http://schemas.openxmlformats.org/drawingml/2006/main" prst="roundRect">
            <a:avLst>
              <a:gd name="adj" fmla="val 1068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6946C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FEDF4DF-8752-477A-B28D-BAFA0A4C5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143250"/>
            <a:ext cx="1047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100" b="1">
                <a:solidFill>
                  <a:srgbClr val="6946C1"/>
                </a:solidFill>
              </a:defRPr>
            </a:pPr>
            <a:r>
              <a:rPr sz="2100" b="1">
                <a:solidFill>
                  <a:srgbClr val="6946C1"/>
                </a:solidFill>
              </a:rPr>
              <a:t>4–5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B7EC757-2F3C-4D4B-9108-8BB21F26D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619500"/>
            <a:ext cx="266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172033"/>
                </a:solidFill>
              </a:defRPr>
            </a:pPr>
            <a:r>
              <a:rPr sz="1800" b="1">
                <a:solidFill>
                  <a:srgbClr val="172033"/>
                </a:solidFill>
              </a:rPr>
              <a:t>按下 Run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8B51B41-27FE-4BB7-8AD2-40463E9DB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4114800"/>
            <a:ext cx="2667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0">
                <a:solidFill>
                  <a:srgbClr val="566174"/>
                </a:solidFill>
              </a:defRPr>
            </a:pPr>
            <a:r>
              <a:rPr sz="1275" b="0">
                <a:solidFill>
                  <a:srgbClr val="566174"/>
                </a:solidFill>
              </a:rPr>
              <a:t>看到預設 ContentView</a:t>
            </a:r>
          </a:p>
          <a:p xmlns:a="http://schemas.openxmlformats.org/drawingml/2006/main">
            <a:pPr>
              <a:buNone/>
              <a:defRPr sz="1275" b="0">
                <a:solidFill>
                  <a:srgbClr val="566174"/>
                </a:solidFill>
              </a:defRPr>
            </a:pPr>
            <a:r>
              <a:rPr sz="1275" b="0">
                <a:solidFill>
                  <a:srgbClr val="566174"/>
                </a:solidFill>
              </a:rPr>
              <a:t>再開始加入功能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C521705-5C58-4A6C-A35F-4676A7CDC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39115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B64214"/>
                </a:solidFill>
              </a:defRPr>
            </a:pPr>
            <a:r>
              <a:rPr sz="1575" b="1">
                <a:solidFill>
                  <a:srgbClr val="B64214"/>
                </a:solidFill>
              </a:rPr>
              <a:t>檢查點：模擬器出現畫面，Xcode 沒有紅色錯誤。</a:t>
            </a:r>
          </a:p>
        </p:txBody>
      </p:sp>
    </p:spTree>
    <p:extLst>
      <p:ext uri="{BB962C8B-B14F-4D97-AF65-F5344CB8AC3E}">
        <p14:creationId xmlns:p14="http://schemas.microsoft.com/office/powerpoint/2010/main" val="197901677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6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7397402-922B-4E87-9F42-8CFEB2749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566174"/>
                </a:solidFill>
              </a:defRPr>
            </a:pPr>
            <a:r>
              <a:rPr sz="975" b="1">
                <a:solidFill>
                  <a:srgbClr val="566174"/>
                </a:solidFill>
              </a:rPr>
              <a:t>攝靈者卡牌 / STEP-BY-STEP WORKSHOP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EBCDADC-C31C-42F2-A875-D19DC4E0A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323850"/>
            <a:ext cx="723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75" b="1">
                <a:solidFill>
                  <a:srgbClr val="566174"/>
                </a:solidFill>
              </a:defRPr>
            </a:pPr>
            <a:r>
              <a:rPr sz="975" b="1">
                <a:solidFill>
                  <a:srgbClr val="566174"/>
                </a:solidFill>
              </a:rPr>
              <a:t>06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2F018F3-96C5-4C0D-9B5B-2758FE52A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00" b="1">
                <a:solidFill>
                  <a:srgbClr val="566174"/>
                </a:solidFill>
              </a:defRPr>
            </a:pPr>
            <a:r>
              <a:rPr sz="900" b="1">
                <a:solidFill>
                  <a:srgbClr val="566174"/>
                </a:solidFill>
              </a:rPr>
              <a:t>PROMPT 0 / 專案骨架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B22362B-2AEB-44B4-9A06-8FEFEF5B7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198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A644D6C-FF3D-492E-B6E8-E749BAD89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7620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3000" b="1">
                <a:solidFill>
                  <a:srgbClr val="172033"/>
                </a:solidFill>
              </a:defRPr>
            </a:pPr>
            <a:r>
              <a:rPr sz="3000" b="1">
                <a:solidFill>
                  <a:srgbClr val="172033"/>
                </a:solidFill>
              </a:rPr>
              <a:t>交給 Codex 的第一個任務：</a:t>
            </a:r>
          </a:p>
          <a:p xmlns:a="http://schemas.openxmlformats.org/drawingml/2006/main">
            <a:pPr>
              <a:buNone/>
              <a:defRPr sz="3000" b="1">
                <a:solidFill>
                  <a:srgbClr val="172033"/>
                </a:solidFill>
              </a:defRPr>
            </a:pPr>
            <a:r>
              <a:rPr sz="3000" b="1">
                <a:solidFill>
                  <a:srgbClr val="172033"/>
                </a:solidFill>
              </a:rPr>
              <a:t>先建骨架。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4AEFC17-AD60-4E7D-B4D6-880031783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724150"/>
            <a:ext cx="3714750" cy="1809750"/>
          </a:xfrm>
          <a:prstGeom xmlns:a="http://schemas.openxmlformats.org/drawingml/2006/main" prst="roundRect">
            <a:avLst>
              <a:gd name="adj" fmla="val 11579"/>
            </a:avLst>
          </a:prstGeom>
          <a:solidFill xmlns:a="http://schemas.openxmlformats.org/drawingml/2006/main">
            <a:srgbClr val="FFF0E8"/>
          </a:solidFill>
          <a:ln xmlns:a="http://schemas.openxmlformats.org/drawingml/2006/main" w="19050">
            <a:solidFill>
              <a:srgbClr val="E85B2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90B43AF-9C0F-4101-B89F-0C6A99241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971800"/>
            <a:ext cx="11049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5B2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DD6FF5C-DA8F-4D0F-894B-F1B4FEE01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019425"/>
            <a:ext cx="1104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F7F6F2"/>
                </a:solidFill>
              </a:defRPr>
            </a:pPr>
            <a:r>
              <a:rPr sz="975" b="1">
                <a:solidFill>
                  <a:srgbClr val="F7F6F2"/>
                </a:solidFill>
              </a:rPr>
              <a:t>貼上這段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6C9F892-9889-4730-B828-64DD4C4F7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467100"/>
            <a:ext cx="304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172033"/>
                </a:solidFill>
              </a:defRPr>
            </a:pPr>
            <a:r>
              <a:rPr sz="1875" b="1">
                <a:solidFill>
                  <a:srgbClr val="172033"/>
                </a:solidFill>
              </a:rPr>
              <a:t>建立 4 個資料夾：</a:t>
            </a:r>
          </a:p>
          <a:p xmlns:a="http://schemas.openxmlformats.org/drawingml/2006/main">
            <a:pPr>
              <a:buNone/>
              <a:defRPr sz="1875" b="1">
                <a:solidFill>
                  <a:srgbClr val="172033"/>
                </a:solidFill>
              </a:defRPr>
            </a:pPr>
            <a:r>
              <a:rPr sz="1875" b="1">
                <a:solidFill>
                  <a:srgbClr val="172033"/>
                </a:solidFill>
              </a:rPr>
              <a:t>Models / Services /</a:t>
            </a:r>
          </a:p>
          <a:p xmlns:a="http://schemas.openxmlformats.org/drawingml/2006/main">
            <a:pPr>
              <a:buNone/>
              <a:defRPr sz="1875" b="1">
                <a:solidFill>
                  <a:srgbClr val="172033"/>
                </a:solidFill>
              </a:defRPr>
            </a:pPr>
            <a:r>
              <a:rPr sz="1875" b="1">
                <a:solidFill>
                  <a:srgbClr val="172033"/>
                </a:solidFill>
              </a:rPr>
              <a:t>ViewModels / Views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35D062C-DCFA-40DE-96C1-5D07FA7F1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390900"/>
            <a:ext cx="476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2400" b="1">
                <a:solidFill>
                  <a:srgbClr val="E85B24"/>
                </a:solidFill>
              </a:defRPr>
            </a:pPr>
            <a:r>
              <a:rPr sz="2400" b="1">
                <a:solidFill>
                  <a:srgbClr val="E85B24"/>
                </a:solidFill>
              </a:rPr>
              <a:t>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DDB6BFC-E056-4272-97C1-07C4F93F5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2724150"/>
            <a:ext cx="5924550" cy="1809750"/>
          </a:xfrm>
          <a:prstGeom xmlns:a="http://schemas.openxmlformats.org/drawingml/2006/main" prst="roundRect">
            <a:avLst>
              <a:gd name="adj" fmla="val 11579"/>
            </a:avLst>
          </a:prstGeom>
          <a:solidFill xmlns:a="http://schemas.openxmlformats.org/drawingml/2006/main">
            <a:srgbClr val="EAF6FA"/>
          </a:solidFill>
          <a:ln xmlns:a="http://schemas.openxmlformats.org/drawingml/2006/main" w="19050">
            <a:solidFill>
              <a:srgbClr val="087EA4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03A211D-9AC9-43AA-9EA9-EBF143B66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2971800"/>
            <a:ext cx="11049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87EA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A7FD9EE-1307-4359-B660-9EA80B4A0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3019425"/>
            <a:ext cx="1104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F7F6F2"/>
                </a:solidFill>
              </a:defRPr>
            </a:pPr>
            <a:r>
              <a:rPr sz="975" b="1">
                <a:solidFill>
                  <a:srgbClr val="F7F6F2"/>
                </a:solidFill>
              </a:rPr>
              <a:t>完成後檢查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9E96025-F16C-4203-A081-8A6CCE638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3467100"/>
            <a:ext cx="5143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172033"/>
                </a:solidFill>
              </a:defRPr>
            </a:pPr>
            <a:r>
              <a:rPr sz="1650" b="1">
                <a:solidFill>
                  <a:srgbClr val="172033"/>
                </a:solidFill>
              </a:rPr>
              <a:t>建立 6 個空檔並 build：</a:t>
            </a:r>
          </a:p>
          <a:p xmlns:a="http://schemas.openxmlformats.org/drawingml/2006/main">
            <a:pPr>
              <a:buNone/>
              <a:defRPr sz="1650" b="1">
                <a:solidFill>
                  <a:srgbClr val="172033"/>
                </a:solidFill>
              </a:defRPr>
            </a:pPr>
            <a:r>
              <a:rPr sz="1650" b="1">
                <a:solidFill>
                  <a:srgbClr val="172033"/>
                </a:solidFill>
              </a:rPr>
              <a:t>Monster、AIService、GameViewModel、</a:t>
            </a:r>
          </a:p>
          <a:p xmlns:a="http://schemas.openxmlformats.org/drawingml/2006/main">
            <a:pPr>
              <a:buNone/>
              <a:defRPr sz="1650" b="1">
                <a:solidFill>
                  <a:srgbClr val="172033"/>
                </a:solidFill>
              </a:defRPr>
            </a:pPr>
            <a:r>
              <a:rPr sz="1650" b="1">
                <a:solidFill>
                  <a:srgbClr val="172033"/>
                </a:solidFill>
              </a:rPr>
              <a:t>CameraView、CardView、BattleView。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E6E082B-C522-4F6B-88A0-1F795DCCD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219700"/>
            <a:ext cx="762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B64214"/>
                </a:solidFill>
              </a:defRPr>
            </a:pPr>
            <a:r>
              <a:rPr sz="1575" b="1">
                <a:solidFill>
                  <a:srgbClr val="B64214"/>
                </a:solidFill>
              </a:rPr>
              <a:t>要求 AI 回報修改檔案與驗證結果，不要只說「已完成」。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5C00022-F476-4075-8CFB-0F2D280DD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600700"/>
            <a:ext cx="7429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66174"/>
                </a:solidFill>
              </a:defRPr>
            </a:pPr>
            <a:r>
              <a:rPr sz="1200" b="0">
                <a:solidFill>
                  <a:srgbClr val="566174"/>
                </a:solidFill>
              </a:rPr>
              <a:t>Project structure / build first</a:t>
            </a:r>
          </a:p>
        </p:txBody>
      </p:sp>
    </p:spTree>
    <p:extLst>
      <p:ext uri="{BB962C8B-B14F-4D97-AF65-F5344CB8AC3E}">
        <p14:creationId xmlns:p14="http://schemas.microsoft.com/office/powerpoint/2010/main" val="7196026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6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579378B-BF9D-4891-BB12-99F643FCE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566174"/>
                </a:solidFill>
              </a:defRPr>
            </a:pPr>
            <a:r>
              <a:rPr sz="975" b="1">
                <a:solidFill>
                  <a:srgbClr val="566174"/>
                </a:solidFill>
              </a:rPr>
              <a:t>攝靈者卡牌 / STEP-BY-STEP WORKSHOP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57F2BD9-D57A-45D8-A6F9-B2DE1F15C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323850"/>
            <a:ext cx="723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75" b="1">
                <a:solidFill>
                  <a:srgbClr val="566174"/>
                </a:solidFill>
              </a:defRPr>
            </a:pPr>
            <a:r>
              <a:rPr sz="975" b="1">
                <a:solidFill>
                  <a:srgbClr val="566174"/>
                </a:solidFill>
              </a:rPr>
              <a:t>07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C15352E-507C-4FB4-B642-90D40FC85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00" b="1">
                <a:solidFill>
                  <a:srgbClr val="566174"/>
                </a:solidFill>
              </a:defRPr>
            </a:pPr>
            <a:r>
              <a:rPr sz="900" b="1">
                <a:solidFill>
                  <a:srgbClr val="566174"/>
                </a:solidFill>
              </a:rPr>
              <a:t>STEP 1 / 資料模型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C7180EB-E31C-42CA-8F77-8F7133E60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198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717405A-4989-4CDC-997A-40F46672F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6286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3000" b="1">
                <a:solidFill>
                  <a:srgbClr val="172033"/>
                </a:solidFill>
              </a:defRPr>
            </a:pPr>
            <a:r>
              <a:rPr sz="3000" b="1">
                <a:solidFill>
                  <a:srgbClr val="172033"/>
                </a:solidFill>
              </a:rPr>
              <a:t>Step 1 / 先定義一張怪獸卡。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4F7E119-8CA0-49D5-8E69-0097E4A85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114550"/>
            <a:ext cx="533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425" b="0">
                <a:solidFill>
                  <a:srgbClr val="566174"/>
                </a:solidFill>
              </a:defRPr>
            </a:pPr>
            <a:r>
              <a:rPr sz="1425" b="0">
                <a:solidFill>
                  <a:srgbClr val="566174"/>
                </a:solidFill>
              </a:rPr>
              <a:t>資料模型先穩定，畫面和 AI 才能共用同一份契約。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B523C6F-33A3-45A9-8FBA-5503F46E9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819400"/>
            <a:ext cx="3238500" cy="1066800"/>
          </a:xfrm>
          <a:prstGeom xmlns:a="http://schemas.openxmlformats.org/drawingml/2006/main" prst="roundRect">
            <a:avLst>
              <a:gd name="adj" fmla="val 160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E2D19B3-22BF-457C-A8EC-A7CC15C76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067050"/>
            <a:ext cx="400050" cy="400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5B2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3B9B7E7-55F9-468D-87D1-AF209066E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143250"/>
            <a:ext cx="4000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F7F6F2"/>
                </a:solidFill>
              </a:defRPr>
            </a:pPr>
            <a:r>
              <a:rPr sz="1425" b="1">
                <a:solidFill>
                  <a:srgbClr val="F7F6F2"/>
                </a:solidFill>
              </a:rPr>
              <a:t>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6FE5B4E-0D3E-442D-B0FE-1A3644E13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04800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172033"/>
                </a:solidFill>
              </a:defRPr>
            </a:pPr>
            <a:r>
              <a:rPr sz="1650" b="1">
                <a:solidFill>
                  <a:srgbClr val="172033"/>
                </a:solidFill>
              </a:rPr>
              <a:t>name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CAF18E9-CC2C-435F-A0EC-458E3DFFF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390900"/>
            <a:ext cx="2190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125" b="0">
                <a:solidFill>
                  <a:srgbClr val="566174"/>
                </a:solidFill>
              </a:defRPr>
            </a:pPr>
            <a:r>
              <a:rPr sz="1125" b="0">
                <a:solidFill>
                  <a:srgbClr val="566174"/>
                </a:solidFill>
              </a:rPr>
              <a:t>4–8 字怪獸名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E01B7FB-9E8C-448C-8DCD-2A4975B18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2819400"/>
            <a:ext cx="3238500" cy="1066800"/>
          </a:xfrm>
          <a:prstGeom xmlns:a="http://schemas.openxmlformats.org/drawingml/2006/main" prst="roundRect">
            <a:avLst>
              <a:gd name="adj" fmla="val 160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2DD0E31-380E-46DE-ADC6-B6F52F098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3067050"/>
            <a:ext cx="400050" cy="400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87EA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7F662C3-F1D6-47FB-9E5A-95F77FC23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3143250"/>
            <a:ext cx="4000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F7F6F2"/>
                </a:solidFill>
              </a:defRPr>
            </a:pPr>
            <a:r>
              <a:rPr sz="1425" b="1">
                <a:solidFill>
                  <a:srgbClr val="F7F6F2"/>
                </a:solidFill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09E556A-F784-4869-B03A-C1F5A86AC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304800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172033"/>
                </a:solidFill>
              </a:defRPr>
            </a:pPr>
            <a:r>
              <a:rPr sz="1650" b="1">
                <a:solidFill>
                  <a:srgbClr val="172033"/>
                </a:solidFill>
              </a:rPr>
              <a:t>element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8C5290F-BEA5-43F0-89FA-963F002A5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3390900"/>
            <a:ext cx="2190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125" b="0">
                <a:solidFill>
                  <a:srgbClr val="566174"/>
                </a:solidFill>
              </a:defRPr>
            </a:pPr>
            <a:r>
              <a:rPr sz="1125" b="0">
                <a:solidFill>
                  <a:srgbClr val="566174"/>
                </a:solidFill>
              </a:rPr>
              <a:t>火、水、草、電、暗、一般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BC87DC0-9F73-43A9-817E-848384572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210050"/>
            <a:ext cx="3238500" cy="1066800"/>
          </a:xfrm>
          <a:prstGeom xmlns:a="http://schemas.openxmlformats.org/drawingml/2006/main" prst="roundRect">
            <a:avLst>
              <a:gd name="adj" fmla="val 160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4949D57-1B76-41DC-95CF-E43EDD51F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457700"/>
            <a:ext cx="400050" cy="400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6946C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67F022C-D0D2-4BA2-9FB1-AE08062AE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533900"/>
            <a:ext cx="4000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F7F6F2"/>
                </a:solidFill>
              </a:defRPr>
            </a:pPr>
            <a:r>
              <a:rPr sz="1425" b="1">
                <a:solidFill>
                  <a:srgbClr val="F7F6F2"/>
                </a:solidFill>
              </a:rPr>
              <a:t>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D838355-E0CF-46AD-90F3-AC896ADBA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4386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172033"/>
                </a:solidFill>
              </a:defRPr>
            </a:pPr>
            <a:r>
              <a:rPr sz="1650" b="1">
                <a:solidFill>
                  <a:srgbClr val="172033"/>
                </a:solidFill>
              </a:rPr>
              <a:t>hp / atk / def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D5541C4-55D8-4203-AD15-2354C71CF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781550"/>
            <a:ext cx="2190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125" b="0">
                <a:solidFill>
                  <a:srgbClr val="566174"/>
                </a:solidFill>
              </a:defRPr>
            </a:pPr>
            <a:r>
              <a:rPr sz="1125" b="0">
                <a:solidFill>
                  <a:srgbClr val="566174"/>
                </a:solidFill>
              </a:rPr>
              <a:t>戰鬥能力值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1EF9ED0-1EFE-45FF-8339-0D81B6200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4210050"/>
            <a:ext cx="3238500" cy="1066800"/>
          </a:xfrm>
          <a:prstGeom xmlns:a="http://schemas.openxmlformats.org/drawingml/2006/main" prst="roundRect">
            <a:avLst>
              <a:gd name="adj" fmla="val 160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FE94CC7-BF4A-4D07-971D-37B2E17BA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4457700"/>
            <a:ext cx="400050" cy="400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E7D3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FE8E391-6C24-4D4C-A24A-036079A34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4533900"/>
            <a:ext cx="4000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F7F6F2"/>
                </a:solidFill>
              </a:defRPr>
            </a:pPr>
            <a:r>
              <a:rPr sz="1425" b="1">
                <a:solidFill>
                  <a:srgbClr val="F7F6F2"/>
                </a:solidFill>
              </a:rPr>
              <a:t>4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5A8CB4B-4A73-4B85-B744-51CD55040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44386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172033"/>
                </a:solidFill>
              </a:defRPr>
            </a:pPr>
            <a:r>
              <a:rPr sz="1650" b="1">
                <a:solidFill>
                  <a:srgbClr val="172033"/>
                </a:solidFill>
              </a:rPr>
              <a:t>skill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F3A1262-23B0-4165-AB66-03E47939C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4781550"/>
            <a:ext cx="2190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125" b="0">
                <a:solidFill>
                  <a:srgbClr val="566174"/>
                </a:solidFill>
              </a:defRPr>
            </a:pPr>
            <a:r>
              <a:rPr sz="1125" b="0">
                <a:solidFill>
                  <a:srgbClr val="566174"/>
                </a:solidFill>
              </a:rPr>
              <a:t>一個招式名稱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D3C0E64-D376-463C-8E3A-8C80B5FE7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781300"/>
            <a:ext cx="3448050" cy="25146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EAF6FA"/>
          </a:solidFill>
          <a:ln xmlns:a="http://schemas.openxmlformats.org/drawingml/2006/main" w="9525">
            <a:solidFill>
              <a:srgbClr val="087EA4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3F6846F-1F1F-4E4C-B150-7E229328F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048000"/>
            <a:ext cx="2762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087EA4"/>
                </a:solidFill>
              </a:defRPr>
            </a:pPr>
            <a:r>
              <a:rPr sz="1500" b="1">
                <a:solidFill>
                  <a:srgbClr val="087EA4"/>
                </a:solidFill>
              </a:rPr>
              <a:t>Monster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F2E788B-1D66-4B9B-A9D6-6C886F57D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476625"/>
            <a:ext cx="276225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struct Monster {</a:t>
            </a:r>
          </a:p>
          <a:p xmlns:a="http://schemas.openxmlformats.org/drawingml/2006/main">
            <a:pPr>
              <a:buNone/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  id, name, element</a:t>
            </a:r>
          </a:p>
          <a:p xmlns:a="http://schemas.openxmlformats.org/drawingml/2006/main">
            <a:pPr>
              <a:buNone/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  hp, atk, def</a:t>
            </a:r>
          </a:p>
          <a:p xmlns:a="http://schemas.openxmlformats.org/drawingml/2006/main">
            <a:pPr>
              <a:buNone/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  skill, currentHp</a:t>
            </a:r>
          </a:p>
          <a:p xmlns:a="http://schemas.openxmlformats.org/drawingml/2006/main">
            <a: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28505620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6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7397402-922B-4E87-9F42-8CFEB2749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566174"/>
                </a:solidFill>
              </a:defRPr>
            </a:pPr>
            <a:r>
              <a:rPr sz="975" b="1">
                <a:solidFill>
                  <a:srgbClr val="566174"/>
                </a:solidFill>
              </a:rPr>
              <a:t>攝靈者卡牌 / STEP-BY-STEP WORKSHOP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EBCDADC-C31C-42F2-A875-D19DC4E0A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323850"/>
            <a:ext cx="723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75" b="1">
                <a:solidFill>
                  <a:srgbClr val="566174"/>
                </a:solidFill>
              </a:defRPr>
            </a:pPr>
            <a:r>
              <a:rPr sz="975" b="1">
                <a:solidFill>
                  <a:srgbClr val="566174"/>
                </a:solidFill>
              </a:rPr>
              <a:t>08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2F018F3-96C5-4C0D-9B5B-2758FE52A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00" b="1">
                <a:solidFill>
                  <a:srgbClr val="566174"/>
                </a:solidFill>
              </a:defRPr>
            </a:pPr>
            <a:r>
              <a:rPr sz="900" b="1">
                <a:solidFill>
                  <a:srgbClr val="566174"/>
                </a:solidFill>
              </a:rPr>
              <a:t>PROMPT 1 / Monster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B22362B-2AEB-44B4-9A06-8FEFEF5B7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198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A644D6C-FF3D-492E-B6E8-E749BAD89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7620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3000" b="1">
                <a:solidFill>
                  <a:srgbClr val="172033"/>
                </a:solidFill>
              </a:defRPr>
            </a:pPr>
            <a:r>
              <a:rPr sz="3000" b="1">
                <a:solidFill>
                  <a:srgbClr val="172033"/>
                </a:solidFill>
              </a:rPr>
              <a:t>Prompt 1 / 請 Codex 建立資料模型。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4AEFC17-AD60-4E7D-B4D6-880031783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724150"/>
            <a:ext cx="3714750" cy="1809750"/>
          </a:xfrm>
          <a:prstGeom xmlns:a="http://schemas.openxmlformats.org/drawingml/2006/main" prst="roundRect">
            <a:avLst>
              <a:gd name="adj" fmla="val 11579"/>
            </a:avLst>
          </a:prstGeom>
          <a:solidFill xmlns:a="http://schemas.openxmlformats.org/drawingml/2006/main">
            <a:srgbClr val="FFF0E8"/>
          </a:solidFill>
          <a:ln xmlns:a="http://schemas.openxmlformats.org/drawingml/2006/main" w="19050">
            <a:solidFill>
              <a:srgbClr val="E85B2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90B43AF-9C0F-4101-B89F-0C6A99241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971800"/>
            <a:ext cx="11049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5B2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DD6FF5C-DA8F-4D0F-894B-F1B4FEE01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019425"/>
            <a:ext cx="1104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F7F6F2"/>
                </a:solidFill>
              </a:defRPr>
            </a:pPr>
            <a:r>
              <a:rPr sz="975" b="1">
                <a:solidFill>
                  <a:srgbClr val="F7F6F2"/>
                </a:solidFill>
              </a:rPr>
              <a:t>貼上這段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6C9F892-9889-4730-B828-64DD4C4F7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467100"/>
            <a:ext cx="304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172033"/>
                </a:solidFill>
              </a:defRPr>
            </a:pPr>
            <a:r>
              <a:rPr sz="1875" b="1">
                <a:solidFill>
                  <a:srgbClr val="172033"/>
                </a:solidFill>
              </a:rPr>
              <a:t>建立 Monster：</a:t>
            </a:r>
          </a:p>
          <a:p xmlns:a="http://schemas.openxmlformats.org/drawingml/2006/main">
            <a:pPr>
              <a:buNone/>
              <a:defRPr sz="1875" b="1">
                <a:solidFill>
                  <a:srgbClr val="172033"/>
                </a:solidFill>
              </a:defRPr>
            </a:pPr>
            <a:r>
              <a:rPr sz="1875" b="1">
                <a:solidFill>
                  <a:srgbClr val="172033"/>
                </a:solidFill>
              </a:rPr>
              <a:t>名稱、屬性、三項數值、</a:t>
            </a:r>
          </a:p>
          <a:p xmlns:a="http://schemas.openxmlformats.org/drawingml/2006/main">
            <a:pPr>
              <a:buNone/>
              <a:defRPr sz="1875" b="1">
                <a:solidFill>
                  <a:srgbClr val="172033"/>
                </a:solidFill>
              </a:defRPr>
            </a:pPr>
            <a:r>
              <a:rPr sz="1875" b="1">
                <a:solidFill>
                  <a:srgbClr val="172033"/>
                </a:solidFill>
              </a:rPr>
              <a:t>技能與 currentHp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35D062C-DCFA-40DE-96C1-5D07FA7F1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390900"/>
            <a:ext cx="476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2400" b="1">
                <a:solidFill>
                  <a:srgbClr val="E85B24"/>
                </a:solidFill>
              </a:defRPr>
            </a:pPr>
            <a:r>
              <a:rPr sz="2400" b="1">
                <a:solidFill>
                  <a:srgbClr val="E85B24"/>
                </a:solidFill>
              </a:rPr>
              <a:t>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DDB6BFC-E056-4272-97C1-07C4F93F5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2724150"/>
            <a:ext cx="5924550" cy="1809750"/>
          </a:xfrm>
          <a:prstGeom xmlns:a="http://schemas.openxmlformats.org/drawingml/2006/main" prst="roundRect">
            <a:avLst>
              <a:gd name="adj" fmla="val 11579"/>
            </a:avLst>
          </a:prstGeom>
          <a:solidFill xmlns:a="http://schemas.openxmlformats.org/drawingml/2006/main">
            <a:srgbClr val="EAF6FA"/>
          </a:solidFill>
          <a:ln xmlns:a="http://schemas.openxmlformats.org/drawingml/2006/main" w="19050">
            <a:solidFill>
              <a:srgbClr val="087EA4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03A211D-9AC9-43AA-9EA9-EBF143B66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2971800"/>
            <a:ext cx="11049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87EA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A7FD9EE-1307-4359-B660-9EA80B4A0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3019425"/>
            <a:ext cx="1104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F7F6F2"/>
                </a:solidFill>
              </a:defRPr>
            </a:pPr>
            <a:r>
              <a:rPr sz="975" b="1">
                <a:solidFill>
                  <a:srgbClr val="F7F6F2"/>
                </a:solidFill>
              </a:rPr>
              <a:t>完成後檢查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9E96025-F16C-4203-A081-8A6CCE638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3467100"/>
            <a:ext cx="5143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172033"/>
                </a:solidFill>
              </a:defRPr>
            </a:pPr>
            <a:r>
              <a:rPr sz="1650" b="1">
                <a:solidFill>
                  <a:srgbClr val="172033"/>
                </a:solidFill>
              </a:rPr>
              <a:t>Element 限定 6 種。</a:t>
            </a:r>
          </a:p>
          <a:p xmlns:a="http://schemas.openxmlformats.org/drawingml/2006/main">
            <a:pPr>
              <a:buNone/>
              <a:defRPr sz="1650" b="1">
                <a:solidFill>
                  <a:srgbClr val="172033"/>
                </a:solidFill>
              </a:defRPr>
            </a:pPr>
            <a:r>
              <a:rPr sz="1650" b="1">
                <a:solidFill>
                  <a:srgbClr val="172033"/>
                </a:solidFill>
              </a:rPr>
              <a:t>加入兩隻 mock；currentHp = hp。</a:t>
            </a:r>
          </a:p>
          <a:p xmlns:a="http://schemas.openxmlformats.org/drawingml/2006/main">
            <a:pPr>
              <a:buNone/>
              <a:defRPr sz="1650" b="1">
                <a:solidFill>
                  <a:srgbClr val="172033"/>
                </a:solidFill>
              </a:defRPr>
            </a:pPr>
            <a:r>
              <a:rPr sz="1650" b="1">
                <a:solidFill>
                  <a:srgbClr val="172033"/>
                </a:solidFill>
              </a:rPr>
              <a:t>JSONDecoder 可解碼 response。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E6E082B-C522-4F6B-88A0-1F795DCCD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219700"/>
            <a:ext cx="762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B64214"/>
                </a:solidFill>
              </a:defRPr>
            </a:pPr>
            <a:r>
              <a:rPr sz="1575" b="1">
                <a:solidFill>
                  <a:srgbClr val="B64214"/>
                </a:solidFill>
              </a:rPr>
              <a:t>若編譯失敗：先讓 Codex 讀完整錯誤訊息，再做最小修正。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5C00022-F476-4075-8CFB-0F2D280DD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600700"/>
            <a:ext cx="7429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66174"/>
                </a:solidFill>
              </a:defRPr>
            </a:pPr>
            <a:r>
              <a:rPr sz="1200" b="0">
                <a:solidFill>
                  <a:srgbClr val="566174"/>
                </a:solidFill>
              </a:rPr>
              <a:t>Models/Monster.swift / JSON contract</a:t>
            </a:r>
          </a:p>
        </p:txBody>
      </p:sp>
    </p:spTree>
    <p:extLst>
      <p:ext uri="{BB962C8B-B14F-4D97-AF65-F5344CB8AC3E}">
        <p14:creationId xmlns:p14="http://schemas.microsoft.com/office/powerpoint/2010/main" val="7196026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6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579378B-BF9D-4891-BB12-99F643FCE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566174"/>
                </a:solidFill>
              </a:defRPr>
            </a:pPr>
            <a:r>
              <a:rPr sz="975" b="1">
                <a:solidFill>
                  <a:srgbClr val="566174"/>
                </a:solidFill>
              </a:rPr>
              <a:t>攝靈者卡牌 / STEP-BY-STEP WORKSHOP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57F2BD9-D57A-45D8-A6F9-B2DE1F15C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323850"/>
            <a:ext cx="723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75" b="1">
                <a:solidFill>
                  <a:srgbClr val="566174"/>
                </a:solidFill>
              </a:defRPr>
            </a:pPr>
            <a:r>
              <a:rPr sz="975" b="1">
                <a:solidFill>
                  <a:srgbClr val="566174"/>
                </a:solidFill>
              </a:rPr>
              <a:t>09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C15352E-507C-4FB4-B642-90D40FC85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00" b="1">
                <a:solidFill>
                  <a:srgbClr val="566174"/>
                </a:solidFill>
              </a:defRPr>
            </a:pPr>
            <a:r>
              <a:rPr sz="900" b="1">
                <a:solidFill>
                  <a:srgbClr val="566174"/>
                </a:solidFill>
              </a:rPr>
              <a:t>STEP 2 / AppState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C7180EB-E31C-42CA-8F77-8F7133E60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198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717405A-4989-4CDC-997A-40F46672F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6286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3000" b="1">
                <a:solidFill>
                  <a:srgbClr val="172033"/>
                </a:solidFill>
              </a:defRPr>
            </a:pPr>
            <a:r>
              <a:rPr sz="3000" b="1">
                <a:solidFill>
                  <a:srgbClr val="172033"/>
                </a:solidFill>
              </a:rPr>
              <a:t>Step 2 / 用 AppState 串起 4 個畫面。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4F7E119-8CA0-49D5-8E69-0097E4A85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114550"/>
            <a:ext cx="533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425" b="0">
                <a:solidFill>
                  <a:srgbClr val="566174"/>
                </a:solidFill>
              </a:defRPr>
            </a:pPr>
            <a:r>
              <a:rPr sz="1425" b="0">
                <a:solidFill>
                  <a:srgbClr val="566174"/>
                </a:solidFill>
              </a:rPr>
              <a:t>狀態只決定現在顯示哪一頁，不把規則塞進 View。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B523C6F-33A3-45A9-8FBA-5503F46E9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819400"/>
            <a:ext cx="3238500" cy="1066800"/>
          </a:xfrm>
          <a:prstGeom xmlns:a="http://schemas.openxmlformats.org/drawingml/2006/main" prst="roundRect">
            <a:avLst>
              <a:gd name="adj" fmla="val 160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E2D19B3-22BF-457C-A8EC-A7CC15C76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067050"/>
            <a:ext cx="400050" cy="400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5B2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3B9B7E7-55F9-468D-87D1-AF209066E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143250"/>
            <a:ext cx="4000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F7F6F2"/>
                </a:solidFill>
              </a:defRPr>
            </a:pPr>
            <a:r>
              <a:rPr sz="1425" b="1">
                <a:solidFill>
                  <a:srgbClr val="F7F6F2"/>
                </a:solidFill>
              </a:rPr>
              <a:t>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6FE5B4E-0D3E-442D-B0FE-1A3644E13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04800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172033"/>
                </a:solidFill>
              </a:defRPr>
            </a:pPr>
            <a:r>
              <a:rPr sz="1650" b="1">
                <a:solidFill>
                  <a:srgbClr val="172033"/>
                </a:solidFill>
              </a:rPr>
              <a:t>idle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CAF18E9-CC2C-435F-A0EC-458E3DFFF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390900"/>
            <a:ext cx="2190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125" b="0">
                <a:solidFill>
                  <a:srgbClr val="566174"/>
                </a:solidFill>
              </a:defRPr>
            </a:pPr>
            <a:r>
              <a:rPr sz="1125" b="0">
                <a:solidFill>
                  <a:srgbClr val="566174"/>
                </a:solidFill>
              </a:rPr>
              <a:t>選照片或快速開戰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E01B7FB-9E8C-448C-8DCD-2A4975B18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2819400"/>
            <a:ext cx="3238500" cy="1066800"/>
          </a:xfrm>
          <a:prstGeom xmlns:a="http://schemas.openxmlformats.org/drawingml/2006/main" prst="roundRect">
            <a:avLst>
              <a:gd name="adj" fmla="val 160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2DD0E31-380E-46DE-ADC6-B6F52F098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3067050"/>
            <a:ext cx="400050" cy="400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87EA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7F662C3-F1D6-47FB-9E5A-95F77FC23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3143250"/>
            <a:ext cx="4000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F7F6F2"/>
                </a:solidFill>
              </a:defRPr>
            </a:pPr>
            <a:r>
              <a:rPr sz="1425" b="1">
                <a:solidFill>
                  <a:srgbClr val="F7F6F2"/>
                </a:solidFill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09E556A-F784-4869-B03A-C1F5A86AC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304800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172033"/>
                </a:solidFill>
              </a:defRPr>
            </a:pPr>
            <a:r>
              <a:rPr sz="1650" b="1">
                <a:solidFill>
                  <a:srgbClr val="172033"/>
                </a:solidFill>
              </a:rPr>
              <a:t>showCard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8C5290F-BEA5-43F0-89FA-963F002A5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3390900"/>
            <a:ext cx="2190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125" b="0">
                <a:solidFill>
                  <a:srgbClr val="566174"/>
                </a:solidFill>
              </a:defRPr>
            </a:pPr>
            <a:r>
              <a:rPr sz="1125" b="0">
                <a:solidFill>
                  <a:srgbClr val="566174"/>
                </a:solidFill>
              </a:rPr>
              <a:t>顯示剛生成的卡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BC87DC0-9F73-43A9-817E-848384572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210050"/>
            <a:ext cx="3238500" cy="1066800"/>
          </a:xfrm>
          <a:prstGeom xmlns:a="http://schemas.openxmlformats.org/drawingml/2006/main" prst="roundRect">
            <a:avLst>
              <a:gd name="adj" fmla="val 160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4949D57-1B76-41DC-95CF-E43EDD51F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457700"/>
            <a:ext cx="400050" cy="400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6946C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67F022C-D0D2-4BA2-9FB1-AE08062AE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533900"/>
            <a:ext cx="4000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F7F6F2"/>
                </a:solidFill>
              </a:defRPr>
            </a:pPr>
            <a:r>
              <a:rPr sz="1425" b="1">
                <a:solidFill>
                  <a:srgbClr val="F7F6F2"/>
                </a:solidFill>
              </a:rPr>
              <a:t>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D838355-E0CF-46AD-90F3-AC896ADBA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4386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172033"/>
                </a:solidFill>
              </a:defRPr>
            </a:pPr>
            <a:r>
              <a:rPr sz="1650" b="1">
                <a:solidFill>
                  <a:srgbClr val="172033"/>
                </a:solidFill>
              </a:rPr>
              <a:t>readyToBattle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D5541C4-55D8-4203-AD15-2354C71CF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781550"/>
            <a:ext cx="2190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125" b="0">
                <a:solidFill>
                  <a:srgbClr val="566174"/>
                </a:solidFill>
              </a:defRPr>
            </a:pPr>
            <a:r>
              <a:rPr sz="1125" b="0">
                <a:solidFill>
                  <a:srgbClr val="566174"/>
                </a:solidFill>
              </a:rPr>
              <a:t>確認兩隻怪獸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1EF9ED0-1EFE-45FF-8339-0D81B6200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4210050"/>
            <a:ext cx="3238500" cy="1066800"/>
          </a:xfrm>
          <a:prstGeom xmlns:a="http://schemas.openxmlformats.org/drawingml/2006/main" prst="roundRect">
            <a:avLst>
              <a:gd name="adj" fmla="val 160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FE94CC7-BF4A-4D07-971D-37B2E17BA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4457700"/>
            <a:ext cx="400050" cy="400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E7D3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FE8E391-6C24-4D4C-A24A-036079A34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4533900"/>
            <a:ext cx="4000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F7F6F2"/>
                </a:solidFill>
              </a:defRPr>
            </a:pPr>
            <a:r>
              <a:rPr sz="1425" b="1">
                <a:solidFill>
                  <a:srgbClr val="F7F6F2"/>
                </a:solidFill>
              </a:rPr>
              <a:t>4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5A8CB4B-4A73-4B85-B744-51CD55040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44386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172033"/>
                </a:solidFill>
              </a:defRPr>
            </a:pPr>
            <a:r>
              <a:rPr sz="1650" b="1">
                <a:solidFill>
                  <a:srgbClr val="172033"/>
                </a:solidFill>
              </a:rPr>
              <a:t>battling / result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F3A1262-23B0-4165-AB66-03E47939C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4781550"/>
            <a:ext cx="2190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125" b="0">
                <a:solidFill>
                  <a:srgbClr val="566174"/>
                </a:solidFill>
              </a:defRPr>
            </a:pPr>
            <a:r>
              <a:rPr sz="1125" b="0">
                <a:solidFill>
                  <a:srgbClr val="566174"/>
                </a:solidFill>
              </a:rPr>
              <a:t>對戰與勝負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D3C0E64-D376-463C-8E3A-8C80B5FE7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781300"/>
            <a:ext cx="3448050" cy="25146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EAF6FA"/>
          </a:solidFill>
          <a:ln xmlns:a="http://schemas.openxmlformats.org/drawingml/2006/main" w="9525">
            <a:solidFill>
              <a:srgbClr val="087EA4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3F6846F-1F1F-4E4C-B150-7E229328F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048000"/>
            <a:ext cx="2762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087EA4"/>
                </a:solidFill>
              </a:defRPr>
            </a:pPr>
            <a:r>
              <a:rPr sz="1500" b="1">
                <a:solidFill>
                  <a:srgbClr val="087EA4"/>
                </a:solidFill>
              </a:rPr>
              <a:t>AppState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F2E788B-1D66-4B9B-A9D6-6C886F57D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476625"/>
            <a:ext cx="276225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enum AppState {</a:t>
            </a:r>
          </a:p>
          <a:p xmlns:a="http://schemas.openxmlformats.org/drawingml/2006/main">
            <a:pPr>
              <a:buNone/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  idle</a:t>
            </a:r>
          </a:p>
          <a:p xmlns:a="http://schemas.openxmlformats.org/drawingml/2006/main">
            <a:pPr>
              <a:buNone/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  showCard(Monster)</a:t>
            </a:r>
          </a:p>
          <a:p xmlns:a="http://schemas.openxmlformats.org/drawingml/2006/main">
            <a:pPr>
              <a:buNone/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  readyToBattle</a:t>
            </a:r>
          </a:p>
          <a:p xmlns:a="http://schemas.openxmlformats.org/drawingml/2006/main">
            <a:r>
              <a:t>  battling</a:t>
            </a:r>
          </a:p>
          <a:p xmlns:a="http://schemas.openxmlformats.org/drawingml/2006/main">
            <a:pPr>
              <a:buNone/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  result(Monster)</a:t>
            </a:r>
          </a:p>
          <a:p xmlns:a="http://schemas.openxmlformats.org/drawingml/2006/main">
            <a:pPr>
              <a:buNone/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285056207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7F6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825D869-ADC2-4413-A116-B9BBC12D1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566174"/>
                </a:solidFill>
              </a:defRPr>
            </a:pPr>
            <a:r>
              <a:rPr sz="975" b="1">
                <a:solidFill>
                  <a:srgbClr val="566174"/>
                </a:solidFill>
              </a:rPr>
              <a:t>攝靈者卡牌 / STEP-BY-STEP WORKSHOP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261D34F-9236-4F8B-AA52-F06AFCC7B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323850"/>
            <a:ext cx="723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75" b="1">
                <a:solidFill>
                  <a:srgbClr val="566174"/>
                </a:solidFill>
              </a:defRPr>
            </a:pPr>
            <a:r>
              <a:rPr sz="975" b="1">
                <a:solidFill>
                  <a:srgbClr val="566174"/>
                </a:solidFill>
              </a:rPr>
              <a:t>10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B9F8C3C-C87B-48AB-9470-458C4A3C0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00" b="1">
                <a:solidFill>
                  <a:srgbClr val="566174"/>
                </a:solidFill>
              </a:defRPr>
            </a:pPr>
            <a:r>
              <a:rPr sz="900" b="1">
                <a:solidFill>
                  <a:srgbClr val="566174"/>
                </a:solidFill>
              </a:rPr>
              <a:t>STEP 3 / Mock UI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ED4C185-E4E9-4AAA-848D-CB40E787C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198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3320F48-57E4-4D5F-B0D6-EF43721D9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78105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925" b="1">
                <a:solidFill>
                  <a:srgbClr val="172033"/>
                </a:solidFill>
              </a:defRPr>
            </a:pPr>
            <a:r>
              <a:rPr sz="2925" b="1">
                <a:solidFill>
                  <a:srgbClr val="172033"/>
                </a:solidFill>
              </a:rPr>
              <a:t>Step 3 / 先用 mock data 把畫面跑通。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CB6068A-7317-4763-8FBA-9774B437B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857500"/>
            <a:ext cx="3276600" cy="1962150"/>
          </a:xfrm>
          <a:prstGeom xmlns:a="http://schemas.openxmlformats.org/drawingml/2006/main" prst="roundRect">
            <a:avLst>
              <a:gd name="adj" fmla="val 1068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E85B2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D39403D-7314-4895-88A9-C244D0419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143250"/>
            <a:ext cx="1047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100" b="1">
                <a:solidFill>
                  <a:srgbClr val="E85B24"/>
                </a:solidFill>
              </a:defRPr>
            </a:pPr>
            <a:r>
              <a:rPr sz="2100" b="1">
                <a:solidFill>
                  <a:srgbClr val="E85B24"/>
                </a:solidFill>
              </a:rPr>
              <a:t>8–10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AF1A887-DD9B-478A-B520-EE723E1DB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619500"/>
            <a:ext cx="266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172033"/>
                </a:solidFill>
              </a:defRPr>
            </a:pPr>
            <a:r>
              <a:rPr sz="1800" b="1">
                <a:solidFill>
                  <a:srgbClr val="172033"/>
                </a:solidFill>
              </a:rPr>
              <a:t>CardView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26D82D4-4C2A-4459-9A46-1E8571F9C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114800"/>
            <a:ext cx="2667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0">
                <a:solidFill>
                  <a:srgbClr val="566174"/>
                </a:solidFill>
              </a:defRPr>
            </a:pPr>
            <a:r>
              <a:rPr sz="1275" b="0">
                <a:solidFill>
                  <a:srgbClr val="566174"/>
                </a:solidFill>
              </a:rPr>
              <a:t>名稱、屬性、HP / ATK / DEF</a:t>
            </a:r>
          </a:p>
          <a:p xmlns:a="http://schemas.openxmlformats.org/drawingml/2006/main">
            <a:pPr>
              <a:buNone/>
              <a:defRPr sz="1275" b="0">
                <a:solidFill>
                  <a:srgbClr val="566174"/>
                </a:solidFill>
              </a:defRPr>
            </a:pPr>
            <a:r>
              <a:rPr sz="1275" b="0">
                <a:solidFill>
                  <a:srgbClr val="566174"/>
                </a:solidFill>
              </a:rPr>
              <a:t>與技能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D05D8CB-653F-4AAC-8FBF-CE75B0F2C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3619500"/>
            <a:ext cx="285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B64214"/>
                </a:solidFill>
              </a:defRPr>
            </a:pPr>
            <a:r>
              <a:rPr sz="1800" b="1">
                <a:solidFill>
                  <a:srgbClr val="B64214"/>
                </a:solidFill>
              </a:rPr>
              <a:t>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260F017-A009-4028-9DB5-D8A1F8476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857500"/>
            <a:ext cx="3276600" cy="1962150"/>
          </a:xfrm>
          <a:prstGeom xmlns:a="http://schemas.openxmlformats.org/drawingml/2006/main" prst="roundRect">
            <a:avLst>
              <a:gd name="adj" fmla="val 1068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87EA4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EABA282-1F85-4894-BBE3-5060BB7AA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143250"/>
            <a:ext cx="1047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100" b="1">
                <a:solidFill>
                  <a:srgbClr val="087EA4"/>
                </a:solidFill>
              </a:defRPr>
            </a:pPr>
            <a:r>
              <a:rPr sz="2100" b="1">
                <a:solidFill>
                  <a:srgbClr val="087EA4"/>
                </a:solidFill>
              </a:rPr>
              <a:t>10–12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BB50682-9B0E-461F-9E2A-619BF572C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619500"/>
            <a:ext cx="266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172033"/>
                </a:solidFill>
              </a:defRPr>
            </a:pPr>
            <a:r>
              <a:rPr sz="1800" b="1">
                <a:solidFill>
                  <a:srgbClr val="172033"/>
                </a:solidFill>
              </a:rPr>
              <a:t>ContentView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314B8D5-6BD1-4DBE-8E2E-02C7922A9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4114800"/>
            <a:ext cx="2667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0">
                <a:solidFill>
                  <a:srgbClr val="566174"/>
                </a:solidFill>
              </a:defRPr>
            </a:pPr>
            <a:r>
              <a:rPr sz="1275" b="0">
                <a:solidFill>
                  <a:srgbClr val="566174"/>
                </a:solidFill>
              </a:rPr>
              <a:t>依 AppState 切換畫面</a:t>
            </a:r>
          </a:p>
          <a:p xmlns:a="http://schemas.openxmlformats.org/drawingml/2006/main">
            <a:pPr>
              <a:buNone/>
              <a:defRPr sz="1275" b="0">
                <a:solidFill>
                  <a:srgbClr val="566174"/>
                </a:solidFill>
              </a:defRPr>
            </a:pPr>
            <a:r>
              <a:rPr sz="1275" b="0">
                <a:solidFill>
                  <a:srgbClr val="566174"/>
                </a:solidFill>
              </a:rPr>
              <a:t>按鈕只呼叫 ViewModel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A30B10F-A650-4F35-B59F-75832D0FF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619500"/>
            <a:ext cx="285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B64214"/>
                </a:solidFill>
              </a:defRPr>
            </a:pPr>
            <a:r>
              <a:rPr sz="1800" b="1">
                <a:solidFill>
                  <a:srgbClr val="B64214"/>
                </a:solidFill>
              </a:rPr>
              <a:t>→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B66DEA3-3579-404D-AE73-293D75E2B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857500"/>
            <a:ext cx="3276600" cy="1962150"/>
          </a:xfrm>
          <a:prstGeom xmlns:a="http://schemas.openxmlformats.org/drawingml/2006/main" prst="roundRect">
            <a:avLst>
              <a:gd name="adj" fmla="val 1068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6946C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FEDF4DF-8752-477A-B28D-BAFA0A4C5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143250"/>
            <a:ext cx="1047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100" b="1">
                <a:solidFill>
                  <a:srgbClr val="6946C1"/>
                </a:solidFill>
              </a:defRPr>
            </a:pPr>
            <a:r>
              <a:rPr sz="2100" b="1">
                <a:solidFill>
                  <a:srgbClr val="6946C1"/>
                </a:solidFill>
              </a:rPr>
              <a:t>12–14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B7EC757-2F3C-4D4B-9108-8BB21F26D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619500"/>
            <a:ext cx="266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172033"/>
                </a:solidFill>
              </a:defRPr>
            </a:pPr>
            <a:r>
              <a:rPr sz="1800" b="1">
                <a:solidFill>
                  <a:srgbClr val="172033"/>
                </a:solidFill>
              </a:rPr>
              <a:t>快速開戰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8B51B41-27FE-4BB7-8AD2-40463E9DB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4114800"/>
            <a:ext cx="2667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0">
                <a:solidFill>
                  <a:srgbClr val="566174"/>
                </a:solidFill>
              </a:defRPr>
            </a:pPr>
            <a:r>
              <a:rPr sz="1275" b="0">
                <a:solidFill>
                  <a:srgbClr val="566174"/>
                </a:solidFill>
              </a:rPr>
              <a:t>使用兩隻 mock 怪獸</a:t>
            </a:r>
          </a:p>
          <a:p xmlns:a="http://schemas.openxmlformats.org/drawingml/2006/main">
            <a:pPr>
              <a:buNone/>
              <a:defRPr sz="1275" b="0">
                <a:solidFill>
                  <a:srgbClr val="566174"/>
                </a:solidFill>
              </a:defRPr>
            </a:pPr>
            <a:r>
              <a:rPr sz="1275" b="0">
                <a:solidFill>
                  <a:srgbClr val="566174"/>
                </a:solidFill>
              </a:rPr>
              <a:t>直接進入 readyToBattle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C521705-5C58-4A6C-A35F-4676A7CDC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39115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B64214"/>
                </a:solidFill>
              </a:defRPr>
            </a:pPr>
            <a:r>
              <a:rPr sz="1575" b="1">
                <a:solidFill>
                  <a:srgbClr val="B64214"/>
                </a:solidFill>
              </a:rPr>
              <a:t>檢查點：沒有相機、沒有 API，也能看到卡牌並進入對戰準備。</a:t>
            </a:r>
          </a:p>
        </p:txBody>
      </p:sp>
    </p:spTree>
    <p:extLst>
      <p:ext uri="{BB962C8B-B14F-4D97-AF65-F5344CB8AC3E}">
        <p14:creationId xmlns:p14="http://schemas.microsoft.com/office/powerpoint/2010/main" val="1979016779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7F6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7397402-922B-4E87-9F42-8CFEB2749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566174"/>
                </a:solidFill>
              </a:defRPr>
            </a:pPr>
            <a:r>
              <a:rPr sz="975" b="1">
                <a:solidFill>
                  <a:srgbClr val="566174"/>
                </a:solidFill>
              </a:rPr>
              <a:t>攝靈者卡牌 / STEP-BY-STEP WORKSHOP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EBCDADC-C31C-42F2-A875-D19DC4E0A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323850"/>
            <a:ext cx="723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75" b="1">
                <a:solidFill>
                  <a:srgbClr val="566174"/>
                </a:solidFill>
              </a:defRPr>
            </a:pPr>
            <a:r>
              <a:rPr sz="975" b="1">
                <a:solidFill>
                  <a:srgbClr val="566174"/>
                </a:solidFill>
              </a:rPr>
              <a:t>11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2F018F3-96C5-4C0D-9B5B-2758FE52A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00" b="1">
                <a:solidFill>
                  <a:srgbClr val="566174"/>
                </a:solidFill>
              </a:defRPr>
            </a:pPr>
            <a:r>
              <a:rPr sz="900" b="1">
                <a:solidFill>
                  <a:srgbClr val="566174"/>
                </a:solidFill>
              </a:rPr>
              <a:t>PROMPT 2 / 狀態與畫面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B22362B-2AEB-44B4-9A06-8FEFEF5B7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198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A644D6C-FF3D-492E-B6E8-E749BAD89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7620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3000" b="1">
                <a:solidFill>
                  <a:srgbClr val="172033"/>
                </a:solidFill>
              </a:defRPr>
            </a:pPr>
            <a:r>
              <a:rPr sz="3000" b="1">
                <a:solidFill>
                  <a:srgbClr val="172033"/>
                </a:solidFill>
              </a:rPr>
              <a:t>Prompt 2 / 建立狀態機與第一版 UI。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4AEFC17-AD60-4E7D-B4D6-880031783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724150"/>
            <a:ext cx="3714750" cy="1809750"/>
          </a:xfrm>
          <a:prstGeom xmlns:a="http://schemas.openxmlformats.org/drawingml/2006/main" prst="roundRect">
            <a:avLst>
              <a:gd name="adj" fmla="val 11579"/>
            </a:avLst>
          </a:prstGeom>
          <a:solidFill xmlns:a="http://schemas.openxmlformats.org/drawingml/2006/main">
            <a:srgbClr val="FFF0E8"/>
          </a:solidFill>
          <a:ln xmlns:a="http://schemas.openxmlformats.org/drawingml/2006/main" w="19050">
            <a:solidFill>
              <a:srgbClr val="E85B2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90B43AF-9C0F-4101-B89F-0C6A99241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971800"/>
            <a:ext cx="11049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5B2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DD6FF5C-DA8F-4D0F-894B-F1B4FEE01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019425"/>
            <a:ext cx="1104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F7F6F2"/>
                </a:solidFill>
              </a:defRPr>
            </a:pPr>
            <a:r>
              <a:rPr sz="975" b="1">
                <a:solidFill>
                  <a:srgbClr val="F7F6F2"/>
                </a:solidFill>
              </a:rPr>
              <a:t>貼上這段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6C9F892-9889-4730-B828-64DD4C4F7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467100"/>
            <a:ext cx="304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172033"/>
                </a:solidFill>
              </a:defRPr>
            </a:pPr>
            <a:r>
              <a:rPr sz="1875" b="1">
                <a:solidFill>
                  <a:srgbClr val="172033"/>
                </a:solidFill>
              </a:rPr>
              <a:t>建立 AppState：</a:t>
            </a:r>
          </a:p>
          <a:p xmlns:a="http://schemas.openxmlformats.org/drawingml/2006/main">
            <a:pPr>
              <a:buNone/>
              <a:defRPr sz="1875" b="1">
                <a:solidFill>
                  <a:srgbClr val="172033"/>
                </a:solidFill>
              </a:defRPr>
            </a:pPr>
            <a:r>
              <a:rPr sz="1875" b="1">
                <a:solidFill>
                  <a:srgbClr val="172033"/>
                </a:solidFill>
              </a:rPr>
              <a:t>idle → card → ready →</a:t>
            </a:r>
          </a:p>
          <a:p xmlns:a="http://schemas.openxmlformats.org/drawingml/2006/main">
            <a:pPr>
              <a:buNone/>
              <a:defRPr sz="1875" b="1">
                <a:solidFill>
                  <a:srgbClr val="172033"/>
                </a:solidFill>
              </a:defRPr>
            </a:pPr>
            <a:r>
              <a:rPr sz="1875" b="1">
                <a:solidFill>
                  <a:srgbClr val="172033"/>
                </a:solidFill>
              </a:rPr>
              <a:t>battle → result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35D062C-DCFA-40DE-96C1-5D07FA7F1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390900"/>
            <a:ext cx="476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2400" b="1">
                <a:solidFill>
                  <a:srgbClr val="E85B24"/>
                </a:solidFill>
              </a:defRPr>
            </a:pPr>
            <a:r>
              <a:rPr sz="2400" b="1">
                <a:solidFill>
                  <a:srgbClr val="E85B24"/>
                </a:solidFill>
              </a:rPr>
              <a:t>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DDB6BFC-E056-4272-97C1-07C4F93F5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2724150"/>
            <a:ext cx="5924550" cy="1809750"/>
          </a:xfrm>
          <a:prstGeom xmlns:a="http://schemas.openxmlformats.org/drawingml/2006/main" prst="roundRect">
            <a:avLst>
              <a:gd name="adj" fmla="val 11579"/>
            </a:avLst>
          </a:prstGeom>
          <a:solidFill xmlns:a="http://schemas.openxmlformats.org/drawingml/2006/main">
            <a:srgbClr val="EAF6FA"/>
          </a:solidFill>
          <a:ln xmlns:a="http://schemas.openxmlformats.org/drawingml/2006/main" w="19050">
            <a:solidFill>
              <a:srgbClr val="087EA4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03A211D-9AC9-43AA-9EA9-EBF143B66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2971800"/>
            <a:ext cx="11049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87EA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A7FD9EE-1307-4359-B660-9EA80B4A0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3019425"/>
            <a:ext cx="1104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F7F6F2"/>
                </a:solidFill>
              </a:defRPr>
            </a:pPr>
            <a:r>
              <a:rPr sz="975" b="1">
                <a:solidFill>
                  <a:srgbClr val="F7F6F2"/>
                </a:solidFill>
              </a:rPr>
              <a:t>完成後檢查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9E96025-F16C-4203-A081-8A6CCE638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3467100"/>
            <a:ext cx="5143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172033"/>
                </a:solidFill>
              </a:defRPr>
            </a:pPr>
            <a:r>
              <a:rPr sz="1650" b="1">
                <a:solidFill>
                  <a:srgbClr val="172033"/>
                </a:solidFill>
              </a:rPr>
              <a:t>ContentView 只依 state 切換。</a:t>
            </a:r>
          </a:p>
          <a:p xmlns:a="http://schemas.openxmlformats.org/drawingml/2006/main">
            <a:pPr>
              <a:buNone/>
              <a:defRPr sz="1650" b="1">
                <a:solidFill>
                  <a:srgbClr val="172033"/>
                </a:solidFill>
              </a:defRPr>
            </a:pPr>
            <a:r>
              <a:rPr sz="1650" b="1">
                <a:solidFill>
                  <a:srgbClr val="172033"/>
                </a:solidFill>
              </a:rPr>
              <a:t>狀態轉換放在 ViewModel；</a:t>
            </a:r>
          </a:p>
          <a:p xmlns:a="http://schemas.openxmlformats.org/drawingml/2006/main">
            <a:pPr>
              <a:buNone/>
              <a:defRPr sz="1650" b="1">
                <a:solidFill>
                  <a:srgbClr val="172033"/>
                </a:solidFill>
              </a:defRPr>
            </a:pPr>
            <a:r>
              <a:rPr sz="1650" b="1">
                <a:solidFill>
                  <a:srgbClr val="172033"/>
                </a:solidFill>
              </a:rPr>
              <a:t>先用 mock data 跑通。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E6E082B-C522-4F6B-88A0-1F795DCCD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219700"/>
            <a:ext cx="762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B64214"/>
                </a:solidFill>
              </a:defRPr>
            </a:pPr>
            <a:r>
              <a:rPr sz="1575" b="1">
                <a:solidFill>
                  <a:srgbClr val="B64214"/>
                </a:solidFill>
              </a:rPr>
              <a:t>先跑通資料流，再美化卡牌；不要同時改架構與視覺。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5C00022-F476-4075-8CFB-0F2D280DD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600700"/>
            <a:ext cx="7429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66174"/>
                </a:solidFill>
              </a:defRPr>
            </a:pPr>
            <a:r>
              <a:rPr sz="1200" b="0">
                <a:solidFill>
                  <a:srgbClr val="566174"/>
                </a:solidFill>
              </a:rPr>
              <a:t>GameViewModel / ContentView / CardView</a:t>
            </a:r>
          </a:p>
        </p:txBody>
      </p:sp>
    </p:spTree>
    <p:extLst>
      <p:ext uri="{BB962C8B-B14F-4D97-AF65-F5344CB8AC3E}">
        <p14:creationId xmlns:p14="http://schemas.microsoft.com/office/powerpoint/2010/main" val="71960264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7F6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825D869-ADC2-4413-A116-B9BBC12D1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566174"/>
                </a:solidFill>
              </a:defRPr>
            </a:pPr>
            <a:r>
              <a:rPr sz="975" b="1">
                <a:solidFill>
                  <a:srgbClr val="566174"/>
                </a:solidFill>
              </a:rPr>
              <a:t>攝靈者卡牌 / STEP-BY-STEP WORKSHOP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261D34F-9236-4F8B-AA52-F06AFCC7B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323850"/>
            <a:ext cx="723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75" b="1">
                <a:solidFill>
                  <a:srgbClr val="566174"/>
                </a:solidFill>
              </a:defRPr>
            </a:pPr>
            <a:r>
              <a:rPr sz="975" b="1">
                <a:solidFill>
                  <a:srgbClr val="566174"/>
                </a:solidFill>
              </a:rPr>
              <a:t>12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B9F8C3C-C87B-48AB-9470-458C4A3C0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00" b="1">
                <a:solidFill>
                  <a:srgbClr val="566174"/>
                </a:solidFill>
              </a:defRPr>
            </a:pPr>
            <a:r>
              <a:rPr sz="900" b="1">
                <a:solidFill>
                  <a:srgbClr val="566174"/>
                </a:solidFill>
              </a:rPr>
              <a:t>STEP 4 / 圖片輸入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ED4C185-E4E9-4AAA-848D-CB40E787C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198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3320F48-57E4-4D5F-B0D6-EF43721D9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78105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925" b="1">
                <a:solidFill>
                  <a:srgbClr val="172033"/>
                </a:solidFill>
              </a:defRPr>
            </a:pPr>
            <a:r>
              <a:rPr sz="2925" b="1">
                <a:solidFill>
                  <a:srgbClr val="172033"/>
                </a:solidFill>
              </a:rPr>
              <a:t>Step 4 / 加入相機與相簿輸入。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CB6068A-7317-4763-8FBA-9774B437B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857500"/>
            <a:ext cx="3276600" cy="1962150"/>
          </a:xfrm>
          <a:prstGeom xmlns:a="http://schemas.openxmlformats.org/drawingml/2006/main" prst="roundRect">
            <a:avLst>
              <a:gd name="adj" fmla="val 1068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E85B2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D39403D-7314-4895-88A9-C244D0419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143250"/>
            <a:ext cx="1047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100" b="1">
                <a:solidFill>
                  <a:srgbClr val="E85B24"/>
                </a:solidFill>
              </a:defRPr>
            </a:pPr>
            <a:r>
              <a:rPr sz="2100" b="1">
                <a:solidFill>
                  <a:srgbClr val="E85B24"/>
                </a:solidFill>
              </a:rPr>
              <a:t>14–16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AF1A887-DD9B-478A-B520-EE723E1DB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619500"/>
            <a:ext cx="266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172033"/>
                </a:solidFill>
              </a:defRPr>
            </a:pPr>
            <a:r>
              <a:rPr sz="1800" b="1">
                <a:solidFill>
                  <a:srgbClr val="172033"/>
                </a:solidFill>
              </a:rPr>
              <a:t>建立 CameraView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26D82D4-4C2A-4459-9A46-1E8571F9C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114800"/>
            <a:ext cx="2667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0">
                <a:solidFill>
                  <a:srgbClr val="566174"/>
                </a:solidFill>
              </a:defRPr>
            </a:pPr>
            <a:r>
              <a:rPr sz="1275" b="0">
                <a:solidFill>
                  <a:srgbClr val="566174"/>
                </a:solidFill>
              </a:rPr>
              <a:t>UIViewControllerRepresentable</a:t>
            </a:r>
          </a:p>
          <a:p xmlns:a="http://schemas.openxmlformats.org/drawingml/2006/main">
            <a:pPr>
              <a:buNone/>
              <a:defRPr sz="1275" b="0">
                <a:solidFill>
                  <a:srgbClr val="566174"/>
                </a:solidFill>
              </a:defRPr>
            </a:pPr>
            <a:r>
              <a:rPr sz="1275" b="0">
                <a:solidFill>
                  <a:srgbClr val="566174"/>
                </a:solidFill>
              </a:rPr>
              <a:t>回傳 UIImage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D05D8CB-653F-4AAC-8FBF-CE75B0F2C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3619500"/>
            <a:ext cx="285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B64214"/>
                </a:solidFill>
              </a:defRPr>
            </a:pPr>
            <a:r>
              <a:rPr sz="1800" b="1">
                <a:solidFill>
                  <a:srgbClr val="B64214"/>
                </a:solidFill>
              </a:rPr>
              <a:t>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260F017-A009-4028-9DB5-D8A1F8476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857500"/>
            <a:ext cx="3276600" cy="1962150"/>
          </a:xfrm>
          <a:prstGeom xmlns:a="http://schemas.openxmlformats.org/drawingml/2006/main" prst="roundRect">
            <a:avLst>
              <a:gd name="adj" fmla="val 1068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87EA4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EABA282-1F85-4894-BBE3-5060BB7AA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143250"/>
            <a:ext cx="1047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100" b="1">
                <a:solidFill>
                  <a:srgbClr val="087EA4"/>
                </a:solidFill>
              </a:defRPr>
            </a:pPr>
            <a:r>
              <a:rPr sz="2100" b="1">
                <a:solidFill>
                  <a:srgbClr val="087EA4"/>
                </a:solidFill>
              </a:rPr>
              <a:t>16–18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BB50682-9B0E-461F-9E2A-619BF572C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619500"/>
            <a:ext cx="266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172033"/>
                </a:solidFill>
              </a:defRPr>
            </a:pPr>
            <a:r>
              <a:rPr sz="1800" b="1">
                <a:solidFill>
                  <a:srgbClr val="172033"/>
                </a:solidFill>
              </a:rPr>
              <a:t>實機與模擬器分流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314B8D5-6BD1-4DBE-8E2E-02C7922A9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4114800"/>
            <a:ext cx="2667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0">
                <a:solidFill>
                  <a:srgbClr val="566174"/>
                </a:solidFill>
              </a:defRPr>
            </a:pPr>
            <a:r>
              <a:rPr sz="1275" b="0">
                <a:solidFill>
                  <a:srgbClr val="566174"/>
                </a:solidFill>
              </a:rPr>
              <a:t>實機可開相機</a:t>
            </a:r>
          </a:p>
          <a:p xmlns:a="http://schemas.openxmlformats.org/drawingml/2006/main">
            <a:pPr>
              <a:buNone/>
              <a:defRPr sz="1275" b="0">
                <a:solidFill>
                  <a:srgbClr val="566174"/>
                </a:solidFill>
              </a:defRPr>
            </a:pPr>
            <a:r>
              <a:rPr sz="1275" b="0">
                <a:solidFill>
                  <a:srgbClr val="566174"/>
                </a:solidFill>
              </a:rPr>
              <a:t>模擬器改用 PHPicker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A30B10F-A650-4F35-B59F-75832D0FF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619500"/>
            <a:ext cx="285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B64214"/>
                </a:solidFill>
              </a:defRPr>
            </a:pPr>
            <a:r>
              <a:rPr sz="1800" b="1">
                <a:solidFill>
                  <a:srgbClr val="B64214"/>
                </a:solidFill>
              </a:rPr>
              <a:t>→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B66DEA3-3579-404D-AE73-293D75E2B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857500"/>
            <a:ext cx="3276600" cy="1962150"/>
          </a:xfrm>
          <a:prstGeom xmlns:a="http://schemas.openxmlformats.org/drawingml/2006/main" prst="roundRect">
            <a:avLst>
              <a:gd name="adj" fmla="val 1068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6946C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FEDF4DF-8752-477A-B28D-BAFA0A4C5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143250"/>
            <a:ext cx="1047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100" b="1">
                <a:solidFill>
                  <a:srgbClr val="6946C1"/>
                </a:solidFill>
              </a:defRPr>
            </a:pPr>
            <a:r>
              <a:rPr sz="2100" b="1">
                <a:solidFill>
                  <a:srgbClr val="6946C1"/>
                </a:solidFill>
              </a:rPr>
              <a:t>18–20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B7EC757-2F3C-4D4B-9108-8BB21F26D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619500"/>
            <a:ext cx="266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172033"/>
                </a:solidFill>
              </a:defRPr>
            </a:pPr>
            <a:r>
              <a:rPr sz="1800" b="1">
                <a:solidFill>
                  <a:srgbClr val="172033"/>
                </a:solidFill>
              </a:rPr>
              <a:t>交給 ViewModel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8B51B41-27FE-4BB7-8AD2-40463E9DB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4114800"/>
            <a:ext cx="2667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0">
                <a:solidFill>
                  <a:srgbClr val="566174"/>
                </a:solidFill>
              </a:defRPr>
            </a:pPr>
            <a:r>
              <a:rPr sz="1275" b="0">
                <a:solidFill>
                  <a:srgbClr val="566174"/>
                </a:solidFill>
              </a:rPr>
              <a:t>sheet 關閉後</a:t>
            </a:r>
          </a:p>
          <a:p xmlns:a="http://schemas.openxmlformats.org/drawingml/2006/main">
            <a:pPr>
              <a:buNone/>
              <a:defRPr sz="1275" b="0">
                <a:solidFill>
                  <a:srgbClr val="566174"/>
                </a:solidFill>
              </a:defRPr>
            </a:pPr>
            <a:r>
              <a:rPr sz="1275" b="0">
                <a:solidFill>
                  <a:srgbClr val="566174"/>
                </a:solidFill>
              </a:rPr>
              <a:t>呼叫 captureMonster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C521705-5C58-4A6C-A35F-4676A7CDC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39115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B64214"/>
                </a:solidFill>
              </a:defRPr>
            </a:pPr>
            <a:r>
              <a:rPr sz="1575" b="1">
                <a:solidFill>
                  <a:srgbClr val="B64214"/>
                </a:solidFill>
              </a:rPr>
              <a:t>檢查點：選到照片後，Console 或畫面能確認收到 UIImage。</a:t>
            </a:r>
          </a:p>
        </p:txBody>
      </p:sp>
    </p:spTree>
    <p:extLst>
      <p:ext uri="{BB962C8B-B14F-4D97-AF65-F5344CB8AC3E}">
        <p14:creationId xmlns:p14="http://schemas.microsoft.com/office/powerpoint/2010/main" val="1979016779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7F6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7397402-922B-4E87-9F42-8CFEB2749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566174"/>
                </a:solidFill>
              </a:defRPr>
            </a:pPr>
            <a:r>
              <a:rPr sz="975" b="1">
                <a:solidFill>
                  <a:srgbClr val="566174"/>
                </a:solidFill>
              </a:rPr>
              <a:t>攝靈者卡牌 / STEP-BY-STEP WORKSHOP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EBCDADC-C31C-42F2-A875-D19DC4E0A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323850"/>
            <a:ext cx="723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75" b="1">
                <a:solidFill>
                  <a:srgbClr val="566174"/>
                </a:solidFill>
              </a:defRPr>
            </a:pPr>
            <a:r>
              <a:rPr sz="975" b="1">
                <a:solidFill>
                  <a:srgbClr val="566174"/>
                </a:solidFill>
              </a:rPr>
              <a:t>13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2F018F3-96C5-4C0D-9B5B-2758FE52A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00" b="1">
                <a:solidFill>
                  <a:srgbClr val="566174"/>
                </a:solidFill>
              </a:defRPr>
            </a:pPr>
            <a:r>
              <a:rPr sz="900" b="1">
                <a:solidFill>
                  <a:srgbClr val="566174"/>
                </a:solidFill>
              </a:rPr>
              <a:t>PROMPT 3 / CameraView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B22362B-2AEB-44B4-9A06-8FEFEF5B7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198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A644D6C-FF3D-492E-B6E8-E749BAD89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7620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3000" b="1">
                <a:solidFill>
                  <a:srgbClr val="172033"/>
                </a:solidFill>
              </a:defRPr>
            </a:pPr>
            <a:r>
              <a:rPr sz="3000" b="1">
                <a:solidFill>
                  <a:srgbClr val="172033"/>
                </a:solidFill>
              </a:rPr>
              <a:t>Prompt 3 / 讓使用者選一張圖片。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4AEFC17-AD60-4E7D-B4D6-880031783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724150"/>
            <a:ext cx="3714750" cy="1809750"/>
          </a:xfrm>
          <a:prstGeom xmlns:a="http://schemas.openxmlformats.org/drawingml/2006/main" prst="roundRect">
            <a:avLst>
              <a:gd name="adj" fmla="val 11579"/>
            </a:avLst>
          </a:prstGeom>
          <a:solidFill xmlns:a="http://schemas.openxmlformats.org/drawingml/2006/main">
            <a:srgbClr val="FFF0E8"/>
          </a:solidFill>
          <a:ln xmlns:a="http://schemas.openxmlformats.org/drawingml/2006/main" w="19050">
            <a:solidFill>
              <a:srgbClr val="E85B2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90B43AF-9C0F-4101-B89F-0C6A99241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971800"/>
            <a:ext cx="11049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5B2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DD6FF5C-DA8F-4D0F-894B-F1B4FEE01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019425"/>
            <a:ext cx="1104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F7F6F2"/>
                </a:solidFill>
              </a:defRPr>
            </a:pPr>
            <a:r>
              <a:rPr sz="975" b="1">
                <a:solidFill>
                  <a:srgbClr val="F7F6F2"/>
                </a:solidFill>
              </a:rPr>
              <a:t>貼上這段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6C9F892-9889-4730-B828-64DD4C4F7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467100"/>
            <a:ext cx="304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172033"/>
                </a:solidFill>
              </a:defRPr>
            </a:pPr>
            <a:r>
              <a:rPr sz="1875" b="1">
                <a:solidFill>
                  <a:srgbClr val="172033"/>
                </a:solidFill>
              </a:rPr>
              <a:t>建立 CameraView：</a:t>
            </a:r>
          </a:p>
          <a:p xmlns:a="http://schemas.openxmlformats.org/drawingml/2006/main">
            <a:pPr>
              <a:buNone/>
              <a:defRPr sz="1875" b="1">
                <a:solidFill>
                  <a:srgbClr val="172033"/>
                </a:solidFill>
              </a:defRPr>
            </a:pPr>
            <a:r>
              <a:rPr sz="1875" b="1">
                <a:solidFill>
                  <a:srgbClr val="172033"/>
                </a:solidFill>
              </a:rPr>
              <a:t>實機用相機；</a:t>
            </a:r>
          </a:p>
          <a:p xmlns:a="http://schemas.openxmlformats.org/drawingml/2006/main">
            <a:pPr>
              <a:buNone/>
              <a:defRPr sz="1875" b="1">
                <a:solidFill>
                  <a:srgbClr val="172033"/>
                </a:solidFill>
              </a:defRPr>
            </a:pPr>
            <a:r>
              <a:rPr sz="1875" b="1">
                <a:solidFill>
                  <a:srgbClr val="172033"/>
                </a:solidFill>
              </a:rPr>
              <a:t>模擬器用相簿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35D062C-DCFA-40DE-96C1-5D07FA7F1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390900"/>
            <a:ext cx="476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2400" b="1">
                <a:solidFill>
                  <a:srgbClr val="E85B24"/>
                </a:solidFill>
              </a:defRPr>
            </a:pPr>
            <a:r>
              <a:rPr sz="2400" b="1">
                <a:solidFill>
                  <a:srgbClr val="E85B24"/>
                </a:solidFill>
              </a:rPr>
              <a:t>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DDB6BFC-E056-4272-97C1-07C4F93F5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2724150"/>
            <a:ext cx="5924550" cy="1809750"/>
          </a:xfrm>
          <a:prstGeom xmlns:a="http://schemas.openxmlformats.org/drawingml/2006/main" prst="roundRect">
            <a:avLst>
              <a:gd name="adj" fmla="val 11579"/>
            </a:avLst>
          </a:prstGeom>
          <a:solidFill xmlns:a="http://schemas.openxmlformats.org/drawingml/2006/main">
            <a:srgbClr val="EAF6FA"/>
          </a:solidFill>
          <a:ln xmlns:a="http://schemas.openxmlformats.org/drawingml/2006/main" w="19050">
            <a:solidFill>
              <a:srgbClr val="087EA4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03A211D-9AC9-43AA-9EA9-EBF143B66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2971800"/>
            <a:ext cx="11049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87EA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A7FD9EE-1307-4359-B660-9EA80B4A0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3019425"/>
            <a:ext cx="1104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F7F6F2"/>
                </a:solidFill>
              </a:defRPr>
            </a:pPr>
            <a:r>
              <a:rPr sz="975" b="1">
                <a:solidFill>
                  <a:srgbClr val="F7F6F2"/>
                </a:solidFill>
              </a:rPr>
              <a:t>完成後檢查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9E96025-F16C-4203-A081-8A6CCE638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3467100"/>
            <a:ext cx="5143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172033"/>
                </a:solidFill>
              </a:defRPr>
            </a:pPr>
            <a:r>
              <a:rPr sz="1650" b="1">
                <a:solidFill>
                  <a:srgbClr val="172033"/>
                </a:solidFill>
              </a:rPr>
              <a:t>選到 UIImage 後回傳；取消關閉。</a:t>
            </a:r>
          </a:p>
          <a:p xmlns:a="http://schemas.openxmlformats.org/drawingml/2006/main">
            <a:pPr>
              <a:buNone/>
              <a:defRPr sz="1650" b="1">
                <a:solidFill>
                  <a:srgbClr val="172033"/>
                </a:solidFill>
              </a:defRPr>
            </a:pPr>
            <a:r>
              <a:rPr sz="1650" b="1">
                <a:solidFill>
                  <a:srgbClr val="172033"/>
                </a:solidFill>
              </a:rPr>
              <a:t>相機不可用就退回相簿。</a:t>
            </a:r>
          </a:p>
          <a:p xmlns:a="http://schemas.openxmlformats.org/drawingml/2006/main">
            <a:pPr>
              <a:buNone/>
              <a:defRPr sz="1650" b="1">
                <a:solidFill>
                  <a:srgbClr val="172033"/>
                </a:solidFill>
              </a:defRPr>
            </a:pPr>
            <a:r>
              <a:rPr sz="1650" b="1">
                <a:solidFill>
                  <a:srgbClr val="172033"/>
                </a:solidFill>
              </a:rPr>
              <a:t>Delegate 回到 MainActor。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E6E082B-C522-4F6B-88A0-1F795DCCD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219700"/>
            <a:ext cx="762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B64214"/>
                </a:solidFill>
              </a:defRPr>
            </a:pPr>
            <a:r>
              <a:rPr sz="1575" b="1">
                <a:solidFill>
                  <a:srgbClr val="B64214"/>
                </a:solidFill>
              </a:rPr>
              <a:t>若模擬器沒有照片，先拖一張圖片進 Photos 再測試。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5C00022-F476-4075-8CFB-0F2D280DD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600700"/>
            <a:ext cx="7429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66174"/>
                </a:solidFill>
              </a:defRPr>
            </a:pPr>
            <a:r>
              <a:rPr sz="1200" b="0">
                <a:solidFill>
                  <a:srgbClr val="566174"/>
                </a:solidFill>
              </a:rPr>
              <a:t>CameraView / UIImage / PHPicker</a:t>
            </a:r>
          </a:p>
        </p:txBody>
      </p:sp>
    </p:spTree>
    <p:extLst>
      <p:ext uri="{BB962C8B-B14F-4D97-AF65-F5344CB8AC3E}">
        <p14:creationId xmlns:p14="http://schemas.microsoft.com/office/powerpoint/2010/main" val="71960264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7F6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1FF5866-1FD2-43E6-A09E-A01E27CB8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566174"/>
                </a:solidFill>
              </a:defRPr>
            </a:pPr>
            <a:r>
              <a:rPr sz="975" b="1">
                <a:solidFill>
                  <a:srgbClr val="566174"/>
                </a:solidFill>
              </a:rPr>
              <a:t>攝靈者卡牌 / STEP-BY-STEP WORKSHOP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9B9CE2A-4F2E-43C8-8CCA-D4FF73BA7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323850"/>
            <a:ext cx="723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75" b="1">
                <a:solidFill>
                  <a:srgbClr val="566174"/>
                </a:solidFill>
              </a:defRPr>
            </a:pPr>
            <a:r>
              <a:rPr sz="975" b="1">
                <a:solidFill>
                  <a:srgbClr val="566174"/>
                </a:solidFill>
              </a:rPr>
              <a:t>14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43AD5B8-455C-44A4-B969-E9E4B9E7B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00" b="1">
                <a:solidFill>
                  <a:srgbClr val="566174"/>
                </a:solidFill>
              </a:defRPr>
            </a:pPr>
            <a:r>
              <a:rPr sz="900" b="1">
                <a:solidFill>
                  <a:srgbClr val="566174"/>
                </a:solidFill>
              </a:rPr>
              <a:t>STEP 5 / AI 契約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019D637-41D8-4F4E-B49D-29468B9F7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198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D8AF54D-BD19-4D18-B3F1-49C3D781F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7620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3000" b="1">
                <a:solidFill>
                  <a:srgbClr val="172033"/>
                </a:solidFill>
              </a:defRPr>
            </a:pPr>
            <a:r>
              <a:rPr sz="3000" b="1">
                <a:solidFill>
                  <a:srgbClr val="172033"/>
                </a:solidFill>
              </a:rPr>
              <a:t>Step 5 / 固定 AI 請求與回傳格式。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E06AF4A-1533-4530-885A-5DEB22175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819400"/>
            <a:ext cx="3162300" cy="161925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E85B2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F1A3489-E091-40A7-842A-97B9FE06F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067050"/>
            <a:ext cx="2667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125" b="1">
                <a:solidFill>
                  <a:srgbClr val="E85B24"/>
                </a:solidFill>
              </a:defRPr>
            </a:pPr>
            <a:r>
              <a:rPr sz="1125" b="1">
                <a:solidFill>
                  <a:srgbClr val="E85B24"/>
                </a:solidFill>
              </a:rPr>
              <a:t>REQUEST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5D9C693-DE54-481A-B440-8E21E425A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524250"/>
            <a:ext cx="2667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172033"/>
                </a:solidFill>
              </a:defRPr>
            </a:pPr>
            <a:r>
              <a:rPr sz="1800" b="1">
                <a:solidFill>
                  <a:srgbClr val="172033"/>
                </a:solidFill>
              </a:rPr>
              <a:t>{ imageBase64 }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E0563FD-B875-4533-AC24-7EF769E52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3429000"/>
            <a:ext cx="304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B64214"/>
                </a:solidFill>
              </a:defRPr>
            </a:pPr>
            <a:r>
              <a:rPr sz="1800" b="1">
                <a:solidFill>
                  <a:srgbClr val="B64214"/>
                </a:solidFill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AC62200-EF06-4BB5-9BE2-8EC8FDA83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819400"/>
            <a:ext cx="3162300" cy="161925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87EA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D996607-F8D6-4A5C-8F9A-A67C08084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067050"/>
            <a:ext cx="2667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125" b="1">
                <a:solidFill>
                  <a:srgbClr val="087EA4"/>
                </a:solidFill>
              </a:defRPr>
            </a:pPr>
            <a:r>
              <a:rPr sz="1125" b="1">
                <a:solidFill>
                  <a:srgbClr val="087EA4"/>
                </a:solidFill>
              </a:rPr>
              <a:t>POST /analyze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1EC61ED-C014-45A4-BDC5-7AFEFB745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524250"/>
            <a:ext cx="2667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172033"/>
                </a:solidFill>
              </a:defRPr>
            </a:pPr>
            <a:r>
              <a:rPr sz="1800" b="1">
                <a:solidFill>
                  <a:srgbClr val="172033"/>
                </a:solidFill>
              </a:rPr>
              <a:t>30 秒 timeout</a:t>
            </a:r>
          </a:p>
          <a:p xmlns:a="http://schemas.openxmlformats.org/drawingml/2006/main">
            <a:pPr>
              <a:buNone/>
              <a:defRPr sz="1800" b="1">
                <a:solidFill>
                  <a:srgbClr val="172033"/>
                </a:solidFill>
              </a:defRPr>
            </a:pPr>
            <a:r>
              <a:rPr sz="1800" b="1">
                <a:solidFill>
                  <a:srgbClr val="172033"/>
                </a:solidFill>
              </a:rPr>
              <a:t>Content-Type: JSON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025F91E-87E8-48FD-9E62-04179882A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429000"/>
            <a:ext cx="304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B64214"/>
                </a:solidFill>
              </a:defRPr>
            </a:pPr>
            <a:r>
              <a:rPr sz="1800" b="1">
                <a:solidFill>
                  <a:srgbClr val="B64214"/>
                </a:solidFill>
              </a:rPr>
              <a:t>→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A825FCF-CB05-4577-AE15-D04DC2D64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819400"/>
            <a:ext cx="3162300" cy="161925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6946C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B74F17A-6EF1-4CF5-AA1F-5437E16AD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067050"/>
            <a:ext cx="2667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125" b="1">
                <a:solidFill>
                  <a:srgbClr val="6946C1"/>
                </a:solidFill>
              </a:defRPr>
            </a:pPr>
            <a:r>
              <a:rPr sz="1125" b="1">
                <a:solidFill>
                  <a:srgbClr val="6946C1"/>
                </a:solidFill>
              </a:rPr>
              <a:t>MonsterResponse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5311D0E-BD57-4602-A7BF-9C92B1D5D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524250"/>
            <a:ext cx="2667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172033"/>
                </a:solidFill>
              </a:defRPr>
            </a:pPr>
            <a:r>
              <a:rPr sz="1800" b="1">
                <a:solidFill>
                  <a:srgbClr val="172033"/>
                </a:solidFill>
              </a:rPr>
              <a:t>name, element,</a:t>
            </a:r>
          </a:p>
          <a:p xmlns:a="http://schemas.openxmlformats.org/drawingml/2006/main">
            <a:pPr>
              <a:buNone/>
              <a:defRPr sz="1800" b="1">
                <a:solidFill>
                  <a:srgbClr val="172033"/>
                </a:solidFill>
              </a:defRPr>
            </a:pPr>
            <a:r>
              <a:rPr sz="1800" b="1">
                <a:solidFill>
                  <a:srgbClr val="172033"/>
                </a:solidFill>
              </a:rPr>
              <a:t>hp, atk, def, skill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70D2716-0586-4A1E-9201-8BDDC9EB2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895850"/>
            <a:ext cx="10001250" cy="723900"/>
          </a:xfrm>
          <a:prstGeom xmlns:a="http://schemas.openxmlformats.org/drawingml/2006/main" prst="roundRect">
            <a:avLst>
              <a:gd name="adj" fmla="val 23684"/>
            </a:avLst>
          </a:prstGeom>
          <a:solidFill xmlns:a="http://schemas.openxmlformats.org/drawingml/2006/main">
            <a:srgbClr val="E9EEF7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341A2CE-E3FD-48AF-9B4C-DCF248BBC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143500"/>
            <a:ext cx="952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425" b="1">
                <a:solidFill>
                  <a:srgbClr val="172033"/>
                </a:solidFill>
              </a:defRPr>
            </a:pPr>
            <a:r>
              <a:rPr sz="1425" b="1">
                <a:solidFill>
                  <a:srgbClr val="172033"/>
                </a:solidFill>
              </a:rPr>
              <a:t>Endpoint: https://snap-fighter-ai.hedula.workers.dev/analyze</a:t>
            </a:r>
          </a:p>
        </p:txBody>
      </p:sp>
    </p:spTree>
    <p:extLst>
      <p:ext uri="{BB962C8B-B14F-4D97-AF65-F5344CB8AC3E}">
        <p14:creationId xmlns:p14="http://schemas.microsoft.com/office/powerpoint/2010/main" val="873372235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7F6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825D869-ADC2-4413-A116-B9BBC12D1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566174"/>
                </a:solidFill>
              </a:defRPr>
            </a:pPr>
            <a:r>
              <a:rPr sz="975" b="1">
                <a:solidFill>
                  <a:srgbClr val="566174"/>
                </a:solidFill>
              </a:rPr>
              <a:t>攝靈者卡牌 / STEP-BY-STEP WORKSHOP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261D34F-9236-4F8B-AA52-F06AFCC7B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323850"/>
            <a:ext cx="723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75" b="1">
                <a:solidFill>
                  <a:srgbClr val="566174"/>
                </a:solidFill>
              </a:defRPr>
            </a:pPr>
            <a:r>
              <a:rPr sz="975" b="1">
                <a:solidFill>
                  <a:srgbClr val="566174"/>
                </a:solidFill>
              </a:rPr>
              <a:t>15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B9F8C3C-C87B-48AB-9470-458C4A3C0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00" b="1">
                <a:solidFill>
                  <a:srgbClr val="566174"/>
                </a:solidFill>
              </a:defRPr>
            </a:pPr>
            <a:r>
              <a:rPr sz="900" b="1">
                <a:solidFill>
                  <a:srgbClr val="566174"/>
                </a:solidFill>
              </a:rPr>
              <a:t>STEP 6 / AIService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ED4C185-E4E9-4AAA-848D-CB40E787C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198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3320F48-57E4-4D5F-B0D6-EF43721D9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78105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925" b="1">
                <a:solidFill>
                  <a:srgbClr val="172033"/>
                </a:solidFill>
              </a:defRPr>
            </a:pPr>
            <a:r>
              <a:rPr sz="2925" b="1">
                <a:solidFill>
                  <a:srgbClr val="172033"/>
                </a:solidFill>
              </a:rPr>
              <a:t>Step 6 / 接上 /analyze 並解碼怪獸卡。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CB6068A-7317-4763-8FBA-9774B437B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857500"/>
            <a:ext cx="3276600" cy="1962150"/>
          </a:xfrm>
          <a:prstGeom xmlns:a="http://schemas.openxmlformats.org/drawingml/2006/main" prst="roundRect">
            <a:avLst>
              <a:gd name="adj" fmla="val 1068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E85B2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D39403D-7314-4895-88A9-C244D0419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143250"/>
            <a:ext cx="1047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100" b="1">
                <a:solidFill>
                  <a:srgbClr val="E85B24"/>
                </a:solidFill>
              </a:defRPr>
            </a:pPr>
            <a:r>
              <a:rPr sz="2100" b="1">
                <a:solidFill>
                  <a:srgbClr val="E85B24"/>
                </a:solidFill>
              </a:rPr>
              <a:t>20–22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AF1A887-DD9B-478A-B520-EE723E1DB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619500"/>
            <a:ext cx="266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172033"/>
                </a:solidFill>
              </a:defRPr>
            </a:pPr>
            <a:r>
              <a:rPr sz="1800" b="1">
                <a:solidFill>
                  <a:srgbClr val="172033"/>
                </a:solidFill>
              </a:rPr>
              <a:t>準備圖片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26D82D4-4C2A-4459-9A46-1E8571F9C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114800"/>
            <a:ext cx="2667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0">
                <a:solidFill>
                  <a:srgbClr val="566174"/>
                </a:solidFill>
              </a:defRPr>
            </a:pPr>
            <a:r>
              <a:rPr sz="1275" b="0">
                <a:solidFill>
                  <a:srgbClr val="566174"/>
                </a:solidFill>
              </a:rPr>
              <a:t>最長 1536px</a:t>
            </a:r>
          </a:p>
          <a:p xmlns:a="http://schemas.openxmlformats.org/drawingml/2006/main">
            <a:pPr>
              <a:buNone/>
              <a:defRPr sz="1275" b="0">
                <a:solidFill>
                  <a:srgbClr val="566174"/>
                </a:solidFill>
              </a:defRPr>
            </a:pPr>
            <a:r>
              <a:rPr sz="1275" b="0">
                <a:solidFill>
                  <a:srgbClr val="566174"/>
                </a:solidFill>
              </a:rPr>
              <a:t>JPEG quality 0.72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D05D8CB-653F-4AAC-8FBF-CE75B0F2C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3619500"/>
            <a:ext cx="285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B64214"/>
                </a:solidFill>
              </a:defRPr>
            </a:pPr>
            <a:r>
              <a:rPr sz="1800" b="1">
                <a:solidFill>
                  <a:srgbClr val="B64214"/>
                </a:solidFill>
              </a:rPr>
              <a:t>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260F017-A009-4028-9DB5-D8A1F8476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857500"/>
            <a:ext cx="3276600" cy="1962150"/>
          </a:xfrm>
          <a:prstGeom xmlns:a="http://schemas.openxmlformats.org/drawingml/2006/main" prst="roundRect">
            <a:avLst>
              <a:gd name="adj" fmla="val 1068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87EA4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EABA282-1F85-4894-BBE3-5060BB7AA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143250"/>
            <a:ext cx="1047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100" b="1">
                <a:solidFill>
                  <a:srgbClr val="087EA4"/>
                </a:solidFill>
              </a:defRPr>
            </a:pPr>
            <a:r>
              <a:rPr sz="2100" b="1">
                <a:solidFill>
                  <a:srgbClr val="087EA4"/>
                </a:solidFill>
              </a:rPr>
              <a:t>22–25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BB50682-9B0E-461F-9E2A-619BF572C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619500"/>
            <a:ext cx="266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172033"/>
                </a:solidFill>
              </a:defRPr>
            </a:pPr>
            <a:r>
              <a:rPr sz="1800" b="1">
                <a:solidFill>
                  <a:srgbClr val="172033"/>
                </a:solidFill>
              </a:rPr>
              <a:t>送出請求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314B8D5-6BD1-4DBE-8E2E-02C7922A9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4114800"/>
            <a:ext cx="2667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0">
                <a:solidFill>
                  <a:srgbClr val="566174"/>
                </a:solidFill>
              </a:defRPr>
            </a:pPr>
            <a:r>
              <a:rPr sz="1275" b="0">
                <a:solidFill>
                  <a:srgbClr val="566174"/>
                </a:solidFill>
              </a:rPr>
              <a:t>POST imageBase64</a:t>
            </a:r>
          </a:p>
          <a:p xmlns:a="http://schemas.openxmlformats.org/drawingml/2006/main">
            <a:pPr>
              <a:buNone/>
              <a:defRPr sz="1275" b="0">
                <a:solidFill>
                  <a:srgbClr val="566174"/>
                </a:solidFill>
              </a:defRPr>
            </a:pPr>
            <a:r>
              <a:rPr sz="1275" b="0">
                <a:solidFill>
                  <a:srgbClr val="566174"/>
                </a:solidFill>
              </a:rPr>
              <a:t>檢查 HTTP 200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A30B10F-A650-4F35-B59F-75832D0FF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619500"/>
            <a:ext cx="285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B64214"/>
                </a:solidFill>
              </a:defRPr>
            </a:pPr>
            <a:r>
              <a:rPr sz="1800" b="1">
                <a:solidFill>
                  <a:srgbClr val="B64214"/>
                </a:solidFill>
              </a:rPr>
              <a:t>→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B66DEA3-3579-404D-AE73-293D75E2B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857500"/>
            <a:ext cx="3276600" cy="1962150"/>
          </a:xfrm>
          <a:prstGeom xmlns:a="http://schemas.openxmlformats.org/drawingml/2006/main" prst="roundRect">
            <a:avLst>
              <a:gd name="adj" fmla="val 1068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6946C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FEDF4DF-8752-477A-B28D-BAFA0A4C5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143250"/>
            <a:ext cx="1047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100" b="1">
                <a:solidFill>
                  <a:srgbClr val="6946C1"/>
                </a:solidFill>
              </a:defRPr>
            </a:pPr>
            <a:r>
              <a:rPr sz="2100" b="1">
                <a:solidFill>
                  <a:srgbClr val="6946C1"/>
                </a:solidFill>
              </a:rPr>
              <a:t>25–28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B7EC757-2F3C-4D4B-9108-8BB21F26D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619500"/>
            <a:ext cx="266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172033"/>
                </a:solidFill>
              </a:defRPr>
            </a:pPr>
            <a:r>
              <a:rPr sz="1800" b="1">
                <a:solidFill>
                  <a:srgbClr val="172033"/>
                </a:solidFill>
              </a:rPr>
              <a:t>解碼卡牌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8B51B41-27FE-4BB7-8AD2-40463E9DB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4114800"/>
            <a:ext cx="2667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0">
                <a:solidFill>
                  <a:srgbClr val="566174"/>
                </a:solidFill>
              </a:defRPr>
            </a:pPr>
            <a:r>
              <a:rPr sz="1275" b="0">
                <a:solidFill>
                  <a:srgbClr val="566174"/>
                </a:solidFill>
              </a:rPr>
              <a:t>JSONDecoder → MonsterResponse</a:t>
            </a:r>
          </a:p>
          <a:p xmlns:a="http://schemas.openxmlformats.org/drawingml/2006/main">
            <a:pPr>
              <a:buNone/>
              <a:defRPr sz="1275" b="0">
                <a:solidFill>
                  <a:srgbClr val="566174"/>
                </a:solidFill>
              </a:defRPr>
            </a:pPr>
            <a:r>
              <a:rPr sz="1275" b="0">
                <a:solidFill>
                  <a:srgbClr val="566174"/>
                </a:solidFill>
              </a:rPr>
              <a:t>轉成 Monster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C521705-5C58-4A6C-A35F-4676A7CDC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39115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B64214"/>
                </a:solidFill>
              </a:defRPr>
            </a:pPr>
            <a:r>
              <a:rPr sz="1575" b="1">
                <a:solidFill>
                  <a:srgbClr val="B64214"/>
                </a:solidFill>
              </a:rPr>
              <a:t>檢查點：選一張照片後，畫面顯示 AI 回傳的怪獸名稱與能力值。</a:t>
            </a:r>
          </a:p>
        </p:txBody>
      </p:sp>
    </p:spTree>
    <p:extLst>
      <p:ext uri="{BB962C8B-B14F-4D97-AF65-F5344CB8AC3E}">
        <p14:creationId xmlns:p14="http://schemas.microsoft.com/office/powerpoint/2010/main" val="1979016779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7F6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7397402-922B-4E87-9F42-8CFEB2749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566174"/>
                </a:solidFill>
              </a:defRPr>
            </a:pPr>
            <a:r>
              <a:rPr sz="975" b="1">
                <a:solidFill>
                  <a:srgbClr val="566174"/>
                </a:solidFill>
              </a:rPr>
              <a:t>攝靈者卡牌 / STEP-BY-STEP WORKSHOP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EBCDADC-C31C-42F2-A875-D19DC4E0A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323850"/>
            <a:ext cx="723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75" b="1">
                <a:solidFill>
                  <a:srgbClr val="566174"/>
                </a:solidFill>
              </a:defRPr>
            </a:pPr>
            <a:r>
              <a:rPr sz="975" b="1">
                <a:solidFill>
                  <a:srgbClr val="566174"/>
                </a:solidFill>
              </a:rPr>
              <a:t>16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2F018F3-96C5-4C0D-9B5B-2758FE52A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00" b="1">
                <a:solidFill>
                  <a:srgbClr val="566174"/>
                </a:solidFill>
              </a:defRPr>
            </a:pPr>
            <a:r>
              <a:rPr sz="900" b="1">
                <a:solidFill>
                  <a:srgbClr val="566174"/>
                </a:solidFill>
              </a:rPr>
              <a:t>PROMPT 4 / AIService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B22362B-2AEB-44B4-9A06-8FEFEF5B7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198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A644D6C-FF3D-492E-B6E8-E749BAD89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7620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3000" b="1">
                <a:solidFill>
                  <a:srgbClr val="172033"/>
                </a:solidFill>
              </a:defRPr>
            </a:pPr>
            <a:r>
              <a:rPr sz="3000" b="1">
                <a:solidFill>
                  <a:srgbClr val="172033"/>
                </a:solidFill>
              </a:rPr>
              <a:t>Prompt 4 / 建立可失敗、可重試的 AIService。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4AEFC17-AD60-4E7D-B4D6-880031783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724150"/>
            <a:ext cx="3714750" cy="1809750"/>
          </a:xfrm>
          <a:prstGeom xmlns:a="http://schemas.openxmlformats.org/drawingml/2006/main" prst="roundRect">
            <a:avLst>
              <a:gd name="adj" fmla="val 11579"/>
            </a:avLst>
          </a:prstGeom>
          <a:solidFill xmlns:a="http://schemas.openxmlformats.org/drawingml/2006/main">
            <a:srgbClr val="FFF0E8"/>
          </a:solidFill>
          <a:ln xmlns:a="http://schemas.openxmlformats.org/drawingml/2006/main" w="19050">
            <a:solidFill>
              <a:srgbClr val="E85B2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90B43AF-9C0F-4101-B89F-0C6A99241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971800"/>
            <a:ext cx="11049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5B2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DD6FF5C-DA8F-4D0F-894B-F1B4FEE01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019425"/>
            <a:ext cx="1104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F7F6F2"/>
                </a:solidFill>
              </a:defRPr>
            </a:pPr>
            <a:r>
              <a:rPr sz="975" b="1">
                <a:solidFill>
                  <a:srgbClr val="F7F6F2"/>
                </a:solidFill>
              </a:rPr>
              <a:t>貼上這段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6C9F892-9889-4730-B828-64DD4C4F7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467100"/>
            <a:ext cx="304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172033"/>
                </a:solidFill>
              </a:defRPr>
            </a:pPr>
            <a:r>
              <a:rPr sz="1875" b="1">
                <a:solidFill>
                  <a:srgbClr val="172033"/>
                </a:solidFill>
              </a:rPr>
              <a:t>建立 AIService：</a:t>
            </a:r>
          </a:p>
          <a:p xmlns:a="http://schemas.openxmlformats.org/drawingml/2006/main">
            <a:pPr>
              <a:buNone/>
              <a:defRPr sz="1875" b="1">
                <a:solidFill>
                  <a:srgbClr val="172033"/>
                </a:solidFill>
              </a:defRPr>
            </a:pPr>
            <a:r>
              <a:rPr sz="1875" b="1">
                <a:solidFill>
                  <a:srgbClr val="172033"/>
                </a:solidFill>
              </a:rPr>
              <a:t>圖片 → POST /analyze →</a:t>
            </a:r>
          </a:p>
          <a:p xmlns:a="http://schemas.openxmlformats.org/drawingml/2006/main">
            <a:pPr>
              <a:buNone/>
              <a:defRPr sz="1875" b="1">
                <a:solidFill>
                  <a:srgbClr val="172033"/>
                </a:solidFill>
              </a:defRPr>
            </a:pPr>
            <a:r>
              <a:rPr sz="1875" b="1">
                <a:solidFill>
                  <a:srgbClr val="172033"/>
                </a:solidFill>
              </a:rPr>
              <a:t>MonsterResponse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35D062C-DCFA-40DE-96C1-5D07FA7F1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390900"/>
            <a:ext cx="476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2400" b="1">
                <a:solidFill>
                  <a:srgbClr val="E85B24"/>
                </a:solidFill>
              </a:defRPr>
            </a:pPr>
            <a:r>
              <a:rPr sz="2400" b="1">
                <a:solidFill>
                  <a:srgbClr val="E85B24"/>
                </a:solidFill>
              </a:rPr>
              <a:t>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DDB6BFC-E056-4272-97C1-07C4F93F5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2724150"/>
            <a:ext cx="5924550" cy="1809750"/>
          </a:xfrm>
          <a:prstGeom xmlns:a="http://schemas.openxmlformats.org/drawingml/2006/main" prst="roundRect">
            <a:avLst>
              <a:gd name="adj" fmla="val 11579"/>
            </a:avLst>
          </a:prstGeom>
          <a:solidFill xmlns:a="http://schemas.openxmlformats.org/drawingml/2006/main">
            <a:srgbClr val="EAF6FA"/>
          </a:solidFill>
          <a:ln xmlns:a="http://schemas.openxmlformats.org/drawingml/2006/main" w="19050">
            <a:solidFill>
              <a:srgbClr val="087EA4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03A211D-9AC9-43AA-9EA9-EBF143B66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2971800"/>
            <a:ext cx="11049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87EA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A7FD9EE-1307-4359-B660-9EA80B4A0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3019425"/>
            <a:ext cx="1104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F7F6F2"/>
                </a:solidFill>
              </a:defRPr>
            </a:pPr>
            <a:r>
              <a:rPr sz="975" b="1">
                <a:solidFill>
                  <a:srgbClr val="F7F6F2"/>
                </a:solidFill>
              </a:rPr>
              <a:t>完成後檢查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9E96025-F16C-4203-A081-8A6CCE638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3467100"/>
            <a:ext cx="5143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172033"/>
                </a:solidFill>
              </a:defRPr>
            </a:pPr>
            <a:r>
              <a:rPr sz="1650" b="1">
                <a:solidFill>
                  <a:srgbClr val="172033"/>
                </a:solidFill>
              </a:rPr>
              <a:t>timeout 30 秒；分開處理</a:t>
            </a:r>
          </a:p>
          <a:p xmlns:a="http://schemas.openxmlformats.org/drawingml/2006/main">
            <a:pPr>
              <a:buNone/>
              <a:defRPr sz="1650" b="1">
                <a:solidFill>
                  <a:srgbClr val="172033"/>
                </a:solidFill>
              </a:defRPr>
            </a:pPr>
            <a:r>
              <a:rPr sz="1650" b="1">
                <a:solidFill>
                  <a:srgbClr val="172033"/>
                </a:solidFill>
              </a:rPr>
              <a:t>HTTP / timeout / JSON。</a:t>
            </a:r>
          </a:p>
          <a:p xmlns:a="http://schemas.openxmlformats.org/drawingml/2006/main">
            <a:pPr>
              <a:buNone/>
              <a:defRPr sz="1650" b="1">
                <a:solidFill>
                  <a:srgbClr val="172033"/>
                </a:solidFill>
              </a:defRPr>
            </a:pPr>
            <a:r>
              <a:rPr sz="1650" b="1">
                <a:solidFill>
                  <a:srgbClr val="172033"/>
                </a:solidFill>
              </a:rPr>
              <a:t>失敗保留 retry 與 mock。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E6E082B-C522-4F6B-88A0-1F795DCCD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219700"/>
            <a:ext cx="762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B64214"/>
                </a:solidFill>
              </a:defRPr>
            </a:pPr>
            <a:r>
              <a:rPr sz="1575" b="1">
                <a:solidFill>
                  <a:srgbClr val="B64214"/>
                </a:solidFill>
              </a:rPr>
              <a:t>不要把 endpoint、URLSession 與 JSONDecoder 全塞進 ContentView。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5C00022-F476-4075-8CFB-0F2D280DD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600700"/>
            <a:ext cx="7429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66174"/>
                </a:solidFill>
              </a:defRPr>
            </a:pPr>
            <a:r>
              <a:rPr sz="1200" b="0">
                <a:solidFill>
                  <a:srgbClr val="566174"/>
                </a:solidFill>
              </a:rPr>
              <a:t>Services/AIService.swift / async-await</a:t>
            </a:r>
          </a:p>
        </p:txBody>
      </p:sp>
    </p:spTree>
    <p:extLst>
      <p:ext uri="{BB962C8B-B14F-4D97-AF65-F5344CB8AC3E}">
        <p14:creationId xmlns:p14="http://schemas.microsoft.com/office/powerpoint/2010/main" val="71960264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7F6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1FF5866-1FD2-43E6-A09E-A01E27CB8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566174"/>
                </a:solidFill>
              </a:defRPr>
            </a:pPr>
            <a:r>
              <a:rPr sz="975" b="1">
                <a:solidFill>
                  <a:srgbClr val="566174"/>
                </a:solidFill>
              </a:rPr>
              <a:t>攝靈者卡牌 / STEP-BY-STEP WORKSHOP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9B9CE2A-4F2E-43C8-8CCA-D4FF73BA7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323850"/>
            <a:ext cx="723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75" b="1">
                <a:solidFill>
                  <a:srgbClr val="566174"/>
                </a:solidFill>
              </a:defRPr>
            </a:pPr>
            <a:r>
              <a:rPr sz="975" b="1">
                <a:solidFill>
                  <a:srgbClr val="566174"/>
                </a:solidFill>
              </a:rPr>
              <a:t>17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43AD5B8-455C-44A4-B969-E9E4B9E7B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00" b="1">
                <a:solidFill>
                  <a:srgbClr val="566174"/>
                </a:solidFill>
              </a:defRPr>
            </a:pPr>
            <a:r>
              <a:rPr sz="900" b="1">
                <a:solidFill>
                  <a:srgbClr val="566174"/>
                </a:solidFill>
              </a:rPr>
              <a:t>STEP 7 / 兩隻怪獸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019D637-41D8-4F4E-B49D-29468B9F7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198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D8AF54D-BD19-4D18-B3F1-49C3D781F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7620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3000" b="1">
                <a:solidFill>
                  <a:srgbClr val="172033"/>
                </a:solidFill>
              </a:defRPr>
            </a:pPr>
            <a:r>
              <a:rPr sz="3000" b="1">
                <a:solidFill>
                  <a:srgbClr val="172033"/>
                </a:solidFill>
              </a:rPr>
              <a:t>Step 7 / 抓到兩隻，才開啟對戰。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E06AF4A-1533-4530-885A-5DEB22175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819400"/>
            <a:ext cx="3162300" cy="161925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E85B2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F1A3489-E091-40A7-842A-97B9FE06F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067050"/>
            <a:ext cx="2667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125" b="1">
                <a:solidFill>
                  <a:srgbClr val="E85B24"/>
                </a:solidFill>
              </a:defRPr>
            </a:pPr>
            <a:r>
              <a:rPr sz="1125" b="1">
                <a:solidFill>
                  <a:srgbClr val="E85B24"/>
                </a:solidFill>
              </a:rPr>
              <a:t>ANALYZE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5D9C693-DE54-481A-B440-8E21E425A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524250"/>
            <a:ext cx="2667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172033"/>
                </a:solidFill>
              </a:defRPr>
            </a:pPr>
            <a:r>
              <a:rPr sz="1800" b="1">
                <a:solidFill>
                  <a:srgbClr val="172033"/>
                </a:solidFill>
              </a:rPr>
              <a:t>收到 Monster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E0563FD-B875-4533-AC24-7EF769E52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3429000"/>
            <a:ext cx="304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B64214"/>
                </a:solidFill>
              </a:defRPr>
            </a:pPr>
            <a:r>
              <a:rPr sz="1800" b="1">
                <a:solidFill>
                  <a:srgbClr val="B64214"/>
                </a:solidFill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AC62200-EF06-4BB5-9BE2-8EC8FDA83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819400"/>
            <a:ext cx="3162300" cy="161925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87EA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D996607-F8D6-4A5C-8F9A-A67C08084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067050"/>
            <a:ext cx="2667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125" b="1">
                <a:solidFill>
                  <a:srgbClr val="087EA4"/>
                </a:solidFill>
              </a:defRPr>
            </a:pPr>
            <a:r>
              <a:rPr sz="1125" b="1">
                <a:solidFill>
                  <a:srgbClr val="087EA4"/>
                </a:solidFill>
              </a:rPr>
              <a:t>STORE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1EC61ED-C014-45A4-BDC5-7AFEFB745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524250"/>
            <a:ext cx="2667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172033"/>
                </a:solidFill>
              </a:defRPr>
            </a:pPr>
            <a:r>
              <a:rPr sz="1800" b="1">
                <a:solidFill>
                  <a:srgbClr val="172033"/>
                </a:solidFill>
              </a:rPr>
              <a:t>monsters.append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025F91E-87E8-48FD-9E62-04179882A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429000"/>
            <a:ext cx="304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B64214"/>
                </a:solidFill>
              </a:defRPr>
            </a:pPr>
            <a:r>
              <a:rPr sz="1800" b="1">
                <a:solidFill>
                  <a:srgbClr val="B64214"/>
                </a:solidFill>
              </a:rPr>
              <a:t>→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A825FCF-CB05-4577-AE15-D04DC2D64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819400"/>
            <a:ext cx="3162300" cy="161925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6946C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B74F17A-6EF1-4CF5-AA1F-5437E16AD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067050"/>
            <a:ext cx="2667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125" b="1">
                <a:solidFill>
                  <a:srgbClr val="6946C1"/>
                </a:solidFill>
              </a:defRPr>
            </a:pPr>
            <a:r>
              <a:rPr sz="1125" b="1">
                <a:solidFill>
                  <a:srgbClr val="6946C1"/>
                </a:solidFill>
              </a:rPr>
              <a:t>GATE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5311D0E-BD57-4602-A7BF-9C92B1D5D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524250"/>
            <a:ext cx="2667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172033"/>
                </a:solidFill>
              </a:defRPr>
            </a:pPr>
            <a:r>
              <a:rPr sz="1800" b="1">
                <a:solidFill>
                  <a:srgbClr val="172033"/>
                </a:solidFill>
              </a:rPr>
              <a:t>1 隻 → showCard</a:t>
            </a:r>
          </a:p>
          <a:p xmlns:a="http://schemas.openxmlformats.org/drawingml/2006/main">
            <a:pPr>
              <a:buNone/>
              <a:defRPr sz="1800" b="1">
                <a:solidFill>
                  <a:srgbClr val="172033"/>
                </a:solidFill>
              </a:defRPr>
            </a:pPr>
            <a:r>
              <a:rPr sz="1800" b="1">
                <a:solidFill>
                  <a:srgbClr val="172033"/>
                </a:solidFill>
              </a:rPr>
              <a:t>2 隻 → readyToBattle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70D2716-0586-4A1E-9201-8BDDC9EB2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895850"/>
            <a:ext cx="10001250" cy="723900"/>
          </a:xfrm>
          <a:prstGeom xmlns:a="http://schemas.openxmlformats.org/drawingml/2006/main" prst="roundRect">
            <a:avLst>
              <a:gd name="adj" fmla="val 23684"/>
            </a:avLst>
          </a:prstGeom>
          <a:solidFill xmlns:a="http://schemas.openxmlformats.org/drawingml/2006/main">
            <a:srgbClr val="E9EEF7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341A2CE-E3FD-48AF-9B4C-DCF248BBC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143500"/>
            <a:ext cx="952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425" b="1">
                <a:solidFill>
                  <a:srgbClr val="172033"/>
                </a:solidFill>
              </a:defRPr>
            </a:pPr>
            <a:r>
              <a:rPr sz="1425" b="1">
                <a:solidFill>
                  <a:srgbClr val="172033"/>
                </a:solidFill>
              </a:rPr>
              <a:t>captureMonster: analyzing → append → showCard / readyToBattle</a:t>
            </a:r>
          </a:p>
        </p:txBody>
      </p:sp>
    </p:spTree>
    <p:extLst>
      <p:ext uri="{BB962C8B-B14F-4D97-AF65-F5344CB8AC3E}">
        <p14:creationId xmlns:p14="http://schemas.microsoft.com/office/powerpoint/2010/main" val="873372235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7F6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AC3AA66-3F3A-46E8-B8C3-750F70AFB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566174"/>
                </a:solidFill>
              </a:defRPr>
            </a:pPr>
            <a:r>
              <a:rPr sz="975" b="1">
                <a:solidFill>
                  <a:srgbClr val="566174"/>
                </a:solidFill>
              </a:rPr>
              <a:t>攝靈者卡牌 / STEP-BY-STEP WORKSHOP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1307527-7331-4DB6-AD0C-B3A382F1F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323850"/>
            <a:ext cx="723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75" b="1">
                <a:solidFill>
                  <a:srgbClr val="566174"/>
                </a:solidFill>
              </a:defRPr>
            </a:pPr>
            <a:r>
              <a:rPr sz="975" b="1">
                <a:solidFill>
                  <a:srgbClr val="566174"/>
                </a:solidFill>
              </a:rPr>
              <a:t>18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DE52E1A-775F-4C42-8E70-F8F366124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00" b="1">
                <a:solidFill>
                  <a:srgbClr val="566174"/>
                </a:solidFill>
              </a:defRPr>
            </a:pPr>
            <a:r>
              <a:rPr sz="900" b="1">
                <a:solidFill>
                  <a:srgbClr val="566174"/>
                </a:solidFill>
              </a:rPr>
              <a:t>STEP 8 / BattleSession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3A1D2CD-298C-4C98-8493-40435F06D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198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0B7CC6A-6B04-42F8-B532-15484C22D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7239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3000" b="1">
                <a:solidFill>
                  <a:srgbClr val="172033"/>
                </a:solidFill>
              </a:defRPr>
            </a:pPr>
            <a:r>
              <a:rPr sz="3000" b="1">
                <a:solidFill>
                  <a:srgbClr val="172033"/>
                </a:solidFill>
              </a:rPr>
              <a:t>Step 8 / 把回合規則放進 BattleSession。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5AEFB05-824C-4669-933C-A87B871DB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114550"/>
            <a:ext cx="685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425" b="0">
                <a:solidFill>
                  <a:srgbClr val="566174"/>
                </a:solidFill>
              </a:defRPr>
            </a:pPr>
            <a:r>
              <a:rPr sz="1425" b="0">
                <a:solidFill>
                  <a:srgbClr val="566174"/>
                </a:solidFill>
              </a:rPr>
              <a:t>View 只顯示資料與發送 action；傷害、回合與勝負由 Session 管理。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D43A793-E683-4A2B-8283-83EBA0BFD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857500"/>
            <a:ext cx="5067300" cy="895350"/>
          </a:xfrm>
          <a:prstGeom xmlns:a="http://schemas.openxmlformats.org/drawingml/2006/main" prst="roundRect">
            <a:avLst>
              <a:gd name="adj" fmla="val 1914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E85B2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5A2055F-34CC-48FE-B468-0200C9D46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02895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E85B24"/>
                </a:solidFill>
              </a:defRPr>
            </a:pPr>
            <a:r>
              <a:rPr sz="1200" b="1">
                <a:solidFill>
                  <a:srgbClr val="E85B24"/>
                </a:solidFill>
              </a:rPr>
              <a:t>ATTACK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9E06562-8592-422B-999E-9F4575DF4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352800"/>
            <a:ext cx="447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傷害 = max(1, atk - def/2)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5164A84-003C-4ED5-A2C1-E7DA6A3EE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857500"/>
            <a:ext cx="5067300" cy="895350"/>
          </a:xfrm>
          <a:prstGeom xmlns:a="http://schemas.openxmlformats.org/drawingml/2006/main" prst="roundRect">
            <a:avLst>
              <a:gd name="adj" fmla="val 1914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6946C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8BE1517-211A-4997-96D6-2366D71C5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02895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6946C1"/>
                </a:solidFill>
              </a:defRPr>
            </a:pPr>
            <a:r>
              <a:rPr sz="1200" b="1">
                <a:solidFill>
                  <a:srgbClr val="6946C1"/>
                </a:solidFill>
              </a:rPr>
              <a:t>SKILL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D6A6E92-5B4B-4D35-AEC7-1EBE7EE10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52800"/>
            <a:ext cx="447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第一版可先略過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F12E33D-6F81-4E22-9A0C-D0AB1E708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76700"/>
            <a:ext cx="5067300" cy="895350"/>
          </a:xfrm>
          <a:prstGeom xmlns:a="http://schemas.openxmlformats.org/drawingml/2006/main" prst="roundRect">
            <a:avLst>
              <a:gd name="adj" fmla="val 1914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87EA4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7718339-2112-4206-8B4A-D785E6DCA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24815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087EA4"/>
                </a:solidFill>
              </a:defRPr>
            </a:pPr>
            <a:r>
              <a:rPr sz="1200" b="1">
                <a:solidFill>
                  <a:srgbClr val="087EA4"/>
                </a:solidFill>
              </a:rPr>
              <a:t>DEFEND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F86C639-9AF1-4B55-B8B6-BB684F917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572000"/>
            <a:ext cx="447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下一次受傷減半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EB17785-3760-40B2-B1D1-10F550C20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4076700"/>
            <a:ext cx="5067300" cy="895350"/>
          </a:xfrm>
          <a:prstGeom xmlns:a="http://schemas.openxmlformats.org/drawingml/2006/main" prst="roundRect">
            <a:avLst>
              <a:gd name="adj" fmla="val 1914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E7D32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43FF161-315F-4897-8AC7-40E7EAA69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4815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2E7D32"/>
                </a:solidFill>
              </a:defRPr>
            </a:pPr>
            <a:r>
              <a:rPr sz="1200" b="1">
                <a:solidFill>
                  <a:srgbClr val="2E7D32"/>
                </a:solidFill>
              </a:rPr>
              <a:t>FINISH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23EF3C3-A9D7-4081-A43A-A86D27182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572000"/>
            <a:ext cx="447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HP &lt;= 0 → winner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23090C4-E43A-4CE0-9239-2950D3EB1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467350"/>
            <a:ext cx="1000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B64214"/>
                </a:solidFill>
              </a:defRPr>
            </a:pPr>
            <a:r>
              <a:rPr sz="1500" b="1">
                <a:solidFill>
                  <a:srgbClr val="B64214"/>
                </a:solidFill>
              </a:rPr>
              <a:t>第一版先完成 attack；還有時間再補 skill、defend、swap。</a:t>
            </a:r>
          </a:p>
        </p:txBody>
      </p:sp>
    </p:spTree>
    <p:extLst>
      <p:ext uri="{BB962C8B-B14F-4D97-AF65-F5344CB8AC3E}">
        <p14:creationId xmlns:p14="http://schemas.microsoft.com/office/powerpoint/2010/main" val="375533083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7F6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7397402-922B-4E87-9F42-8CFEB2749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566174"/>
                </a:solidFill>
              </a:defRPr>
            </a:pPr>
            <a:r>
              <a:rPr sz="975" b="1">
                <a:solidFill>
                  <a:srgbClr val="566174"/>
                </a:solidFill>
              </a:rPr>
              <a:t>攝靈者卡牌 / STEP-BY-STEP WORKSHOP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EBCDADC-C31C-42F2-A875-D19DC4E0A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323850"/>
            <a:ext cx="723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75" b="1">
                <a:solidFill>
                  <a:srgbClr val="566174"/>
                </a:solidFill>
              </a:defRPr>
            </a:pPr>
            <a:r>
              <a:rPr sz="975" b="1">
                <a:solidFill>
                  <a:srgbClr val="566174"/>
                </a:solidFill>
              </a:rPr>
              <a:t>19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2F018F3-96C5-4C0D-9B5B-2758FE52A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00" b="1">
                <a:solidFill>
                  <a:srgbClr val="566174"/>
                </a:solidFill>
              </a:defRPr>
            </a:pPr>
            <a:r>
              <a:rPr sz="900" b="1">
                <a:solidFill>
                  <a:srgbClr val="566174"/>
                </a:solidFill>
              </a:rPr>
              <a:t>PROMPT 5 / BattleSession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B22362B-2AEB-44B4-9A06-8FEFEF5B7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198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A644D6C-FF3D-492E-B6E8-E749BAD89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7620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3000" b="1">
                <a:solidFill>
                  <a:srgbClr val="172033"/>
                </a:solidFill>
              </a:defRPr>
            </a:pPr>
            <a:r>
              <a:rPr sz="3000" b="1">
                <a:solidFill>
                  <a:srgbClr val="172033"/>
                </a:solidFill>
              </a:rPr>
              <a:t>Prompt 5 / 讓按鈕真的推進一個回合。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4AEFC17-AD60-4E7D-B4D6-880031783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724150"/>
            <a:ext cx="3714750" cy="1809750"/>
          </a:xfrm>
          <a:prstGeom xmlns:a="http://schemas.openxmlformats.org/drawingml/2006/main" prst="roundRect">
            <a:avLst>
              <a:gd name="adj" fmla="val 11579"/>
            </a:avLst>
          </a:prstGeom>
          <a:solidFill xmlns:a="http://schemas.openxmlformats.org/drawingml/2006/main">
            <a:srgbClr val="FFF0E8"/>
          </a:solidFill>
          <a:ln xmlns:a="http://schemas.openxmlformats.org/drawingml/2006/main" w="19050">
            <a:solidFill>
              <a:srgbClr val="E85B2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90B43AF-9C0F-4101-B89F-0C6A99241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971800"/>
            <a:ext cx="11049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5B2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DD6FF5C-DA8F-4D0F-894B-F1B4FEE01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019425"/>
            <a:ext cx="1104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F7F6F2"/>
                </a:solidFill>
              </a:defRPr>
            </a:pPr>
            <a:r>
              <a:rPr sz="975" b="1">
                <a:solidFill>
                  <a:srgbClr val="F7F6F2"/>
                </a:solidFill>
              </a:rPr>
              <a:t>貼上這段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6C9F892-9889-4730-B828-64DD4C4F7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467100"/>
            <a:ext cx="304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172033"/>
                </a:solidFill>
              </a:defRPr>
            </a:pPr>
            <a:r>
              <a:rPr sz="1875" b="1">
                <a:solidFill>
                  <a:srgbClr val="172033"/>
                </a:solidFill>
              </a:rPr>
              <a:t>建立 BattleSession：</a:t>
            </a:r>
          </a:p>
          <a:p xmlns:a="http://schemas.openxmlformats.org/drawingml/2006/main">
            <a:pPr>
              <a:buNone/>
              <a:defRPr sz="1875" b="1">
                <a:solidFill>
                  <a:srgbClr val="172033"/>
                </a:solidFill>
              </a:defRPr>
            </a:pPr>
            <a:r>
              <a:rPr sz="1875" b="1">
                <a:solidFill>
                  <a:srgbClr val="172033"/>
                </a:solidFill>
              </a:rPr>
              <a:t>attack 更新 HP；</a:t>
            </a:r>
          </a:p>
          <a:p xmlns:a="http://schemas.openxmlformats.org/drawingml/2006/main">
            <a:pPr>
              <a:buNone/>
              <a:defRPr sz="1875" b="1">
                <a:solidFill>
                  <a:srgbClr val="172033"/>
                </a:solidFill>
              </a:defRPr>
            </a:pPr>
            <a:r>
              <a:rPr sz="1875" b="1">
                <a:solidFill>
                  <a:srgbClr val="172033"/>
                </a:solidFill>
              </a:rPr>
              <a:t>HP 歸零決定 winner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35D062C-DCFA-40DE-96C1-5D07FA7F1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390900"/>
            <a:ext cx="476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2400" b="1">
                <a:solidFill>
                  <a:srgbClr val="E85B24"/>
                </a:solidFill>
              </a:defRPr>
            </a:pPr>
            <a:r>
              <a:rPr sz="2400" b="1">
                <a:solidFill>
                  <a:srgbClr val="E85B24"/>
                </a:solidFill>
              </a:rPr>
              <a:t>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DDB6BFC-E056-4272-97C1-07C4F93F5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2724150"/>
            <a:ext cx="5924550" cy="1809750"/>
          </a:xfrm>
          <a:prstGeom xmlns:a="http://schemas.openxmlformats.org/drawingml/2006/main" prst="roundRect">
            <a:avLst>
              <a:gd name="adj" fmla="val 11579"/>
            </a:avLst>
          </a:prstGeom>
          <a:solidFill xmlns:a="http://schemas.openxmlformats.org/drawingml/2006/main">
            <a:srgbClr val="EAF6FA"/>
          </a:solidFill>
          <a:ln xmlns:a="http://schemas.openxmlformats.org/drawingml/2006/main" w="19050">
            <a:solidFill>
              <a:srgbClr val="087EA4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03A211D-9AC9-43AA-9EA9-EBF143B66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2971800"/>
            <a:ext cx="11049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87EA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A7FD9EE-1307-4359-B660-9EA80B4A0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3019425"/>
            <a:ext cx="1104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F7F6F2"/>
                </a:solidFill>
              </a:defRPr>
            </a:pPr>
            <a:r>
              <a:rPr sz="975" b="1">
                <a:solidFill>
                  <a:srgbClr val="F7F6F2"/>
                </a:solidFill>
              </a:rPr>
              <a:t>完成後檢查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9E96025-F16C-4203-A081-8A6CCE638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3467100"/>
            <a:ext cx="5143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172033"/>
                </a:solidFill>
              </a:defRPr>
            </a:pPr>
            <a:r>
              <a:rPr sz="1650" b="1">
                <a:solidFill>
                  <a:srgbClr val="172033"/>
                </a:solidFill>
              </a:rPr>
              <a:t>BattleView 持有 @State session。</a:t>
            </a:r>
          </a:p>
          <a:p xmlns:a="http://schemas.openxmlformats.org/drawingml/2006/main">
            <a:pPr>
              <a:buNone/>
              <a:defRPr sz="1650" b="1">
                <a:solidFill>
                  <a:srgbClr val="172033"/>
                </a:solidFill>
              </a:defRPr>
            </a:pPr>
            <a:r>
              <a:rPr sz="1650" b="1">
                <a:solidFill>
                  <a:srgbClr val="172033"/>
                </a:solidFill>
              </a:rPr>
              <a:t>按鈕只呼叫 performAction；</a:t>
            </a:r>
          </a:p>
          <a:p xmlns:a="http://schemas.openxmlformats.org/drawingml/2006/main">
            <a:pPr>
              <a:buNone/>
              <a:defRPr sz="1650" b="1">
                <a:solidFill>
                  <a:srgbClr val="172033"/>
                </a:solidFill>
              </a:defRPr>
            </a:pPr>
            <a:r>
              <a:rPr sz="1650" b="1">
                <a:solidFill>
                  <a:srgbClr val="172033"/>
                </a:solidFill>
              </a:rPr>
              <a:t>每次 action 後 HP 必須改變。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E6E082B-C522-4F6B-88A0-1F795DCCD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219700"/>
            <a:ext cx="762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B64214"/>
                </a:solidFill>
              </a:defRPr>
            </a:pPr>
            <a:r>
              <a:rPr sz="1575" b="1">
                <a:solidFill>
                  <a:srgbClr val="B64214"/>
                </a:solidFill>
              </a:rPr>
              <a:t>若 HP 不更新：檢查 session 是否被複製、View 是否讀同一份 state。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5C00022-F476-4075-8CFB-0F2D280DD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600700"/>
            <a:ext cx="7429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66174"/>
                </a:solidFill>
              </a:defRPr>
            </a:pPr>
            <a:r>
              <a:rPr sz="1200" b="0">
                <a:solidFill>
                  <a:srgbClr val="566174"/>
                </a:solidFill>
              </a:rPr>
              <a:t>Models/BattleSession.swift / Views/BattleView.swift</a:t>
            </a:r>
          </a:p>
        </p:txBody>
      </p:sp>
    </p:spTree>
    <p:extLst>
      <p:ext uri="{BB962C8B-B14F-4D97-AF65-F5344CB8AC3E}">
        <p14:creationId xmlns:p14="http://schemas.microsoft.com/office/powerpoint/2010/main" val="71960264"/>
      </p:ext>
    </p:extLst>
  </p:cSld>
</p:sld>
</file>

<file path=ppt/slides/slide20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F7F6F2"/>
            </a:gs>
            <a:gs pos="100000">
              <a:srgbClr val="EEF6FF"/>
            </a:gs>
          </a:gsLst>
          <a:lin ang="810000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F8ED185-D46F-40A9-9995-18EEF076D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619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566174"/>
                </a:solidFill>
              </a:defRPr>
            </a:pPr>
            <a:r>
              <a:rPr sz="975" b="1">
                <a:solidFill>
                  <a:srgbClr val="566174"/>
                </a:solidFill>
              </a:rPr>
              <a:t>攝靈者卡牌 / STEP 9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E7DA433-3715-4C50-84E6-C8EE06315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723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3150" b="1">
                <a:solidFill>
                  <a:srgbClr val="172033"/>
                </a:solidFill>
              </a:defRPr>
            </a:pPr>
            <a:r>
              <a:rPr sz="3150" b="1">
                <a:solidFill>
                  <a:srgbClr val="172033"/>
                </a:solidFill>
              </a:rPr>
              <a:t>Step 9 / 把勝負結果接回 AppState。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3923A27-0E12-4822-9B37-29A1BE488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809750"/>
            <a:ext cx="762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425" b="0">
                <a:solidFill>
                  <a:srgbClr val="566174"/>
                </a:solidFill>
              </a:defRPr>
            </a:pPr>
            <a:r>
              <a:rPr sz="1425" b="0">
                <a:solidFill>
                  <a:srgbClr val="566174"/>
                </a:solidFill>
              </a:rPr>
              <a:t>BattleSession 完成後，把 winner 交回 ViewModel。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A1ACD19-3667-49C4-8324-2C7C5B909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895600"/>
            <a:ext cx="1885950" cy="1581150"/>
          </a:xfrm>
          <a:prstGeom xmlns:a="http://schemas.openxmlformats.org/drawingml/2006/main" prst="roundRect">
            <a:avLst>
              <a:gd name="adj" fmla="val 12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E85B2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E294B9E-E925-4E8E-87F9-071E29806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124200"/>
            <a:ext cx="342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950" b="1">
                <a:solidFill>
                  <a:srgbClr val="E85B24"/>
                </a:solidFill>
              </a:defRPr>
            </a:pPr>
            <a:r>
              <a:rPr sz="1950" b="1">
                <a:solidFill>
                  <a:srgbClr val="E85B24"/>
                </a:solidFill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5417550-6256-48E0-8503-EB645F62D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638550"/>
            <a:ext cx="1504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425" b="1">
                <a:solidFill>
                  <a:srgbClr val="172033"/>
                </a:solidFill>
              </a:defRPr>
            </a:pPr>
            <a:r>
              <a:rPr sz="1425" b="1">
                <a:solidFill>
                  <a:srgbClr val="172033"/>
                </a:solidFill>
              </a:rPr>
              <a:t>BattleView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BCF6AC9-76BE-4C95-B8C2-55C43E7E7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076700"/>
            <a:ext cx="1504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 b="0">
                <a:solidFill>
                  <a:srgbClr val="566174"/>
                </a:solidFill>
              </a:defRPr>
            </a:pPr>
            <a:r>
              <a:rPr sz="1050" b="0">
                <a:solidFill>
                  <a:srgbClr val="566174"/>
                </a:solidFill>
              </a:rPr>
              <a:t>action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FB6ADB2-FA7C-42BB-8692-E9DE94C01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3562350"/>
            <a:ext cx="247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B64214"/>
                </a:solidFill>
              </a:defRPr>
            </a:pPr>
            <a:r>
              <a:rPr sz="1500" b="1">
                <a:solidFill>
                  <a:srgbClr val="B64214"/>
                </a:solidFill>
              </a:rPr>
              <a:t>→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3E6D957-13E3-43B7-8F24-E8B6FC8B9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895600"/>
            <a:ext cx="1885950" cy="1581150"/>
          </a:xfrm>
          <a:prstGeom xmlns:a="http://schemas.openxmlformats.org/drawingml/2006/main" prst="roundRect">
            <a:avLst>
              <a:gd name="adj" fmla="val 12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87EA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2001F2C-0701-4217-A506-C99BD4217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124200"/>
            <a:ext cx="342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950" b="1">
                <a:solidFill>
                  <a:srgbClr val="087EA4"/>
                </a:solidFill>
              </a:defRPr>
            </a:pPr>
            <a:r>
              <a:rPr sz="1950" b="1">
                <a:solidFill>
                  <a:srgbClr val="087EA4"/>
                </a:solidFill>
              </a:rPr>
              <a:t>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79E529B-E853-4665-A27A-7A7AC88CD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638550"/>
            <a:ext cx="1504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425" b="1">
                <a:solidFill>
                  <a:srgbClr val="172033"/>
                </a:solidFill>
              </a:defRPr>
            </a:pPr>
            <a:r>
              <a:rPr sz="1425" b="1">
                <a:solidFill>
                  <a:srgbClr val="172033"/>
                </a:solidFill>
              </a:rPr>
              <a:t>BattleSession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EFABFDA-5CB2-4413-A03D-B935DB268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4076700"/>
            <a:ext cx="1504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 b="0">
                <a:solidFill>
                  <a:srgbClr val="566174"/>
                </a:solidFill>
              </a:defRPr>
            </a:pPr>
            <a:r>
              <a:rPr sz="1050" b="0">
                <a:solidFill>
                  <a:srgbClr val="566174"/>
                </a:solidFill>
              </a:rPr>
              <a:t>winner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8A573E7-0474-4C30-B8D2-91A49A486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3562350"/>
            <a:ext cx="247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B64214"/>
                </a:solidFill>
              </a:defRPr>
            </a:pPr>
            <a:r>
              <a:rPr sz="1500" b="1">
                <a:solidFill>
                  <a:srgbClr val="B64214"/>
                </a:solidFill>
              </a:rPr>
              <a:t>→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8815DE0-790C-4724-9078-FA85F267F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2895600"/>
            <a:ext cx="1885950" cy="1581150"/>
          </a:xfrm>
          <a:prstGeom xmlns:a="http://schemas.openxmlformats.org/drawingml/2006/main" prst="roundRect">
            <a:avLst>
              <a:gd name="adj" fmla="val 12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6946C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D8D46BA-1578-4D91-91E7-4F3E1B779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3124200"/>
            <a:ext cx="342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950" b="1">
                <a:solidFill>
                  <a:srgbClr val="6946C1"/>
                </a:solidFill>
              </a:defRPr>
            </a:pPr>
            <a:r>
              <a:rPr sz="1950" b="1">
                <a:solidFill>
                  <a:srgbClr val="6946C1"/>
                </a:solidFill>
              </a:rPr>
              <a:t>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49C5F9E-DC6C-44DE-8375-8842356E5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3638550"/>
            <a:ext cx="1504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425" b="1">
                <a:solidFill>
                  <a:srgbClr val="172033"/>
                </a:solidFill>
              </a:defRPr>
            </a:pPr>
            <a:r>
              <a:rPr sz="1425" b="1">
                <a:solidFill>
                  <a:srgbClr val="172033"/>
                </a:solidFill>
              </a:rPr>
              <a:t>onBattleEnd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D10D5CF-0303-4E6E-ACB1-7F93D6409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4076700"/>
            <a:ext cx="1504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 b="0">
                <a:solidFill>
                  <a:srgbClr val="566174"/>
                </a:solidFill>
              </a:defRPr>
            </a:pPr>
            <a:r>
              <a:rPr sz="1050" b="0">
                <a:solidFill>
                  <a:srgbClr val="566174"/>
                </a:solidFill>
              </a:rPr>
              <a:t>callback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DDDB92A-2DB2-4721-85FA-AF4CCF9F6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3562350"/>
            <a:ext cx="247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B64214"/>
                </a:solidFill>
              </a:defRPr>
            </a:pPr>
            <a:r>
              <a:rPr sz="1500" b="1">
                <a:solidFill>
                  <a:srgbClr val="B64214"/>
                </a:solidFill>
              </a:rPr>
              <a:t>→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71B88E4-9B72-4756-B863-392365021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2895600"/>
            <a:ext cx="1885950" cy="1581150"/>
          </a:xfrm>
          <a:prstGeom xmlns:a="http://schemas.openxmlformats.org/drawingml/2006/main" prst="roundRect">
            <a:avLst>
              <a:gd name="adj" fmla="val 12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E7D32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99AAF04-73D5-4FED-9EBD-FDA6D3AC5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3124200"/>
            <a:ext cx="342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950" b="1">
                <a:solidFill>
                  <a:srgbClr val="2E7D32"/>
                </a:solidFill>
              </a:defRPr>
            </a:pPr>
            <a:r>
              <a:rPr sz="1950" b="1">
                <a:solidFill>
                  <a:srgbClr val="2E7D32"/>
                </a:solidFill>
              </a:rPr>
              <a:t>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2EFC467-D2AF-4590-AC21-C369EA327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3638550"/>
            <a:ext cx="1504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425" b="1">
                <a:solidFill>
                  <a:srgbClr val="172033"/>
                </a:solidFill>
              </a:defRPr>
            </a:pPr>
            <a:r>
              <a:rPr sz="1425" b="1">
                <a:solidFill>
                  <a:srgbClr val="172033"/>
                </a:solidFill>
              </a:rPr>
              <a:t>result(winner)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AAE2A9D-BFC4-4C6A-B086-FEC7B3A5E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4076700"/>
            <a:ext cx="1504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 b="0">
                <a:solidFill>
                  <a:srgbClr val="566174"/>
                </a:solidFill>
              </a:defRPr>
            </a:pPr>
            <a:r>
              <a:rPr sz="1050" b="0">
                <a:solidFill>
                  <a:srgbClr val="566174"/>
                </a:solidFill>
              </a:rPr>
              <a:t>AppState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3AAFE24-6D0E-4938-A028-872B2A6EF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3562350"/>
            <a:ext cx="247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B64214"/>
                </a:solidFill>
              </a:defRPr>
            </a:pPr>
            <a:r>
              <a:rPr sz="1500" b="1">
                <a:solidFill>
                  <a:srgbClr val="B64214"/>
                </a:solidFill>
              </a:rPr>
              <a:t>→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B0BB2AA-27D8-4F96-89EE-A00F9EBA8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2895600"/>
            <a:ext cx="1885950" cy="1581150"/>
          </a:xfrm>
          <a:prstGeom xmlns:a="http://schemas.openxmlformats.org/drawingml/2006/main" prst="roundRect">
            <a:avLst>
              <a:gd name="adj" fmla="val 12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B64214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112B5E9-0511-4A80-9FB9-96DF671B0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3124200"/>
            <a:ext cx="342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950" b="1">
                <a:solidFill>
                  <a:srgbClr val="B64214"/>
                </a:solidFill>
              </a:defRPr>
            </a:pPr>
            <a:r>
              <a:rPr sz="1950" b="1">
                <a:solidFill>
                  <a:srgbClr val="B64214"/>
                </a:solidFill>
              </a:rPr>
              <a:t>5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801A677-0597-46D4-83C2-96C3A5AF4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3638550"/>
            <a:ext cx="1504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425" b="1">
                <a:solidFill>
                  <a:srgbClr val="172033"/>
                </a:solidFill>
              </a:defRPr>
            </a:pPr>
            <a:r>
              <a:rPr sz="1425" b="1">
                <a:solidFill>
                  <a:srgbClr val="172033"/>
                </a:solidFill>
              </a:rPr>
              <a:t>再玩一次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622B59A-ABED-477A-81F0-2086C0A41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4076700"/>
            <a:ext cx="1504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 b="0">
                <a:solidFill>
                  <a:srgbClr val="566174"/>
                </a:solidFill>
              </a:defRPr>
            </a:pPr>
            <a:r>
              <a:rPr sz="1050" b="0">
                <a:solidFill>
                  <a:srgbClr val="566174"/>
                </a:solidFill>
              </a:rPr>
              <a:t>reset</a:t>
            </a:r>
          </a:p>
        </p:txBody>
      </p:sp>
      <p:pic>
        <p:nvPicPr>
          <p:cNvPr id="6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3b82c9bd8d643e0"/>
          <a:srcRect xmlns:a="http://schemas.openxmlformats.org/drawingml/2006/main" l="0" t="9500" r="0" b="950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877300" y="4876800"/>
            <a:ext cx="952500" cy="1028700"/>
          </a:xfrm>
          <a:prstGeom xmlns:a="http://schemas.openxmlformats.org/drawingml/2006/main" prst="roundRect">
            <a:avLst>
              <a:gd name="adj" fmla="val 22000"/>
            </a:avLst>
          </a:prstGeom>
        </p:spPr>
      </p:pic>
      <p:pic>
        <p:nvPicPr>
          <p:cNvPr id="6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d0ad6d23d40448c"/>
          <a:srcRect xmlns:a="http://schemas.openxmlformats.org/drawingml/2006/main" l="0" t="9500" r="0" b="950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925050" y="4876800"/>
            <a:ext cx="952500" cy="1028700"/>
          </a:xfrm>
          <a:prstGeom xmlns:a="http://schemas.openxmlformats.org/drawingml/2006/main" prst="roundRect">
            <a:avLst>
              <a:gd name="adj" fmla="val 22000"/>
            </a:avLst>
          </a:prstGeom>
        </p:spPr>
      </p:pic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3907F7A-B9F2-4498-9A8F-D74F57E01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314950"/>
            <a:ext cx="7429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B64214"/>
                </a:solidFill>
              </a:defRPr>
            </a:pPr>
            <a:r>
              <a:rPr sz="1575" b="1">
                <a:solidFill>
                  <a:srgbClr val="B64214"/>
                </a:solidFill>
              </a:rPr>
              <a:t>檢查點：HP 歸零 → 顯示勝者 → 按鈕回到首頁。</a:t>
            </a:r>
          </a:p>
        </p:txBody>
      </p:sp>
    </p:spTree>
    <p:extLst>
      <p:ext uri="{BB962C8B-B14F-4D97-AF65-F5344CB8AC3E}">
        <p14:creationId xmlns:p14="http://schemas.microsoft.com/office/powerpoint/2010/main" val="2070111473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7F6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06C3F0B-807E-4B12-9495-070EE6223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566174"/>
                </a:solidFill>
              </a:defRPr>
            </a:pPr>
            <a:r>
              <a:rPr sz="975" b="1">
                <a:solidFill>
                  <a:srgbClr val="566174"/>
                </a:solidFill>
              </a:rPr>
              <a:t>攝靈者卡牌 / STEP-BY-STEP WORKSHOP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1CD786D-3BA2-477E-B92E-53F039C17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323850"/>
            <a:ext cx="723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75" b="1">
                <a:solidFill>
                  <a:srgbClr val="566174"/>
                </a:solidFill>
              </a:defRPr>
            </a:pPr>
            <a:r>
              <a:rPr sz="975" b="1">
                <a:solidFill>
                  <a:srgbClr val="566174"/>
                </a:solidFill>
              </a:rPr>
              <a:t>21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7C0411A-73D9-401F-8763-4E9A10E37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00" b="1">
                <a:solidFill>
                  <a:srgbClr val="566174"/>
                </a:solidFill>
              </a:defRPr>
            </a:pPr>
            <a:r>
              <a:rPr sz="900" b="1">
                <a:solidFill>
                  <a:srgbClr val="566174"/>
                </a:solidFill>
              </a:rPr>
              <a:t>STEP 10 / 備援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C5E016E-B037-45AD-983F-28F239F12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198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E59EF94-133E-478E-9EB1-3F2080429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6191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3150" b="1">
                <a:solidFill>
                  <a:srgbClr val="172033"/>
                </a:solidFill>
              </a:defRPr>
            </a:pPr>
            <a:r>
              <a:rPr sz="3150" b="1">
                <a:solidFill>
                  <a:srgbClr val="172033"/>
                </a:solidFill>
              </a:rPr>
              <a:t>Step 10 / 網路失敗時，</a:t>
            </a:r>
          </a:p>
          <a:p xmlns:a="http://schemas.openxmlformats.org/drawingml/2006/main">
            <a:pPr>
              <a:buNone/>
              <a:defRPr sz="3150" b="1">
                <a:solidFill>
                  <a:srgbClr val="172033"/>
                </a:solidFill>
              </a:defRPr>
            </a:pPr>
            <a:r>
              <a:rPr sz="3150" b="1">
                <a:solidFill>
                  <a:srgbClr val="172033"/>
                </a:solidFill>
              </a:rPr>
              <a:t>Demo 仍能完成。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80490E6-9229-4CA8-827A-8D1475D34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95500"/>
            <a:ext cx="590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425" b="0">
                <a:solidFill>
                  <a:srgbClr val="566174"/>
                </a:solidFill>
              </a:defRPr>
            </a:pPr>
            <a:r>
              <a:rPr sz="1425" b="0">
                <a:solidFill>
                  <a:srgbClr val="566174"/>
                </a:solidFill>
              </a:rPr>
              <a:t>不是把錯誤藏起來，而是準備一條可驗證的備援路徑。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3E96C01-501B-4FDB-8799-4F3CC7DE0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781300"/>
            <a:ext cx="10477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5B2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B26F7B1-8B6B-4F80-89FA-5A6B1E270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828925"/>
            <a:ext cx="1047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F7F6F2"/>
                </a:solidFill>
              </a:defRPr>
            </a:pPr>
            <a:r>
              <a:rPr sz="975" b="1">
                <a:solidFill>
                  <a:srgbClr val="F7F6F2"/>
                </a:solidFill>
              </a:rPr>
              <a:t>FAILURE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6EB3CAD-D325-4FDB-9CA5-B0734A9E3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219450"/>
            <a:ext cx="4972050" cy="1333500"/>
          </a:xfrm>
          <a:prstGeom xmlns:a="http://schemas.openxmlformats.org/drawingml/2006/main" prst="roundRect">
            <a:avLst>
              <a:gd name="adj" fmla="val 12857"/>
            </a:avLst>
          </a:prstGeom>
          <a:solidFill xmlns:a="http://schemas.openxmlformats.org/drawingml/2006/main">
            <a:srgbClr val="EEF2F8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30B8BC1-2629-4A54-AB9E-9B8CDE9D6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476625"/>
            <a:ext cx="4476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/analyze timeout、HTTP 非 200，</a:t>
            </a:r>
          </a:p>
          <a:p xmlns:a="http://schemas.openxmlformats.org/drawingml/2006/main">
            <a:pPr>
              <a:buNone/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或 JSON 無法解碼。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9EB828F-D44F-45C7-AA0E-5C31BC4A0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365760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2250" b="1">
                <a:solidFill>
                  <a:srgbClr val="E85B24"/>
                </a:solidFill>
              </a:defRPr>
            </a:pPr>
            <a:r>
              <a:rPr sz="2250" b="1">
                <a:solidFill>
                  <a:srgbClr val="E85B24"/>
                </a:solidFill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ABADAC6-9F19-4890-92E7-36647387E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781300"/>
            <a:ext cx="8382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628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3327587-2FC8-4FC9-AC84-F070F71CB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828925"/>
            <a:ext cx="838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F7F6F2"/>
                </a:solidFill>
              </a:defRPr>
            </a:pPr>
            <a:r>
              <a:rPr sz="975" b="1">
                <a:solidFill>
                  <a:srgbClr val="F7F6F2"/>
                </a:solidFill>
              </a:rPr>
              <a:t>FALLBACK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AAE05CA-8D86-4732-AE43-B3798F8ED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219450"/>
            <a:ext cx="4972050" cy="1333500"/>
          </a:xfrm>
          <a:prstGeom xmlns:a="http://schemas.openxmlformats.org/drawingml/2006/main" prst="roundRect">
            <a:avLst>
              <a:gd name="adj" fmla="val 12857"/>
            </a:avLst>
          </a:prstGeom>
          <a:solidFill xmlns:a="http://schemas.openxmlformats.org/drawingml/2006/main">
            <a:srgbClr val="FBE9E9"/>
          </a:solidFill>
          <a:ln xmlns:a="http://schemas.openxmlformats.org/drawingml/2006/main" w="9525">
            <a:solidFill>
              <a:srgbClr val="C6282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62D261C-1AA2-4E5A-889B-D44663382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3514725"/>
            <a:ext cx="4381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172033"/>
                </a:solidFill>
              </a:defRPr>
            </a:pPr>
            <a:r>
              <a:rPr sz="1650" b="1">
                <a:solidFill>
                  <a:srgbClr val="172033"/>
                </a:solidFill>
              </a:rPr>
              <a:t>顯示錯誤與「重試」。</a:t>
            </a:r>
          </a:p>
          <a:p xmlns:a="http://schemas.openxmlformats.org/drawingml/2006/main">
            <a:pPr>
              <a:buNone/>
              <a:defRPr sz="1650" b="1">
                <a:solidFill>
                  <a:srgbClr val="172033"/>
                </a:solidFill>
              </a:defRPr>
            </a:pPr>
            <a:r>
              <a:rPr sz="1650" b="1">
                <a:solidFill>
                  <a:srgbClr val="172033"/>
                </a:solidFill>
              </a:rPr>
              <a:t>另提供 mock provider 或快速開戰。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6CECB41-EADA-4506-AC72-6076C20BC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029200"/>
            <a:ext cx="7239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87EA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7DA43C1-E4FB-428E-840C-3AD0AF07E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076825"/>
            <a:ext cx="723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F7F6F2"/>
                </a:solidFill>
              </a:defRPr>
            </a:pPr>
            <a:r>
              <a:rPr sz="975" b="1">
                <a:solidFill>
                  <a:srgbClr val="F7F6F2"/>
                </a:solidFill>
              </a:rPr>
              <a:t>CHECK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7DF4342-AE16-431B-906C-C4AFB1112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5048250"/>
            <a:ext cx="628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087EA4"/>
                </a:solidFill>
              </a:defRPr>
            </a:pPr>
            <a:r>
              <a:rPr sz="1500" b="1">
                <a:solidFill>
                  <a:srgbClr val="087EA4"/>
                </a:solidFill>
              </a:rPr>
              <a:t>先用 --ai-provider=mock 驗證 UI，再回到 worker。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27672F7-1A57-40CD-9F73-F92085B75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467350"/>
            <a:ext cx="933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0">
                <a:solidFill>
                  <a:srgbClr val="566174"/>
                </a:solidFill>
              </a:defRPr>
            </a:pPr>
            <a:r>
              <a:rPr sz="1275" b="0">
                <a:solidFill>
                  <a:srgbClr val="566174"/>
                </a:solidFill>
              </a:rPr>
              <a:t>備援不是假裝成功；要清楚標示目前使用 mock 或 worker。</a:t>
            </a:r>
          </a:p>
        </p:txBody>
      </p:sp>
    </p:spTree>
    <p:extLst>
      <p:ext uri="{BB962C8B-B14F-4D97-AF65-F5344CB8AC3E}">
        <p14:creationId xmlns:p14="http://schemas.microsoft.com/office/powerpoint/2010/main" val="1727339198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7F6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0FBADFB-B1D3-4EAE-BACD-A887AB127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566174"/>
                </a:solidFill>
              </a:defRPr>
            </a:pPr>
            <a:r>
              <a:rPr sz="975" b="1">
                <a:solidFill>
                  <a:srgbClr val="566174"/>
                </a:solidFill>
              </a:rPr>
              <a:t>攝靈者卡牌 / STEP-BY-STEP WORKSHOP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1E3BC89-8300-4C4A-AFD5-621D050ED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323850"/>
            <a:ext cx="723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75" b="1">
                <a:solidFill>
                  <a:srgbClr val="566174"/>
                </a:solidFill>
              </a:defRPr>
            </a:pPr>
            <a:r>
              <a:rPr sz="975" b="1">
                <a:solidFill>
                  <a:srgbClr val="566174"/>
                </a:solidFill>
              </a:rPr>
              <a:t>22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C800F8B-7F8C-4F2A-8C30-0ADE726BA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00" b="1">
                <a:solidFill>
                  <a:srgbClr val="566174"/>
                </a:solidFill>
              </a:defRPr>
            </a:pPr>
            <a:r>
              <a:rPr sz="900" b="1">
                <a:solidFill>
                  <a:srgbClr val="566174"/>
                </a:solidFill>
              </a:rPr>
              <a:t>DEBUG / 分層定位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806AAC2-8997-4842-9E67-382E5096A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198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F0A380D-99C1-4F16-A8D6-660601E6B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7810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3000" b="1">
                <a:solidFill>
                  <a:srgbClr val="172033"/>
                </a:solidFill>
              </a:defRPr>
            </a:pPr>
            <a:r>
              <a:rPr sz="3000" b="1">
                <a:solidFill>
                  <a:srgbClr val="172033"/>
                </a:solidFill>
              </a:rPr>
              <a:t>卡住時，先確認錯誤在哪一層。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A7B9B32-283D-49E3-A231-A326E865B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724150"/>
            <a:ext cx="3181350" cy="2114550"/>
          </a:xfrm>
          <a:prstGeom xmlns:a="http://schemas.openxmlformats.org/drawingml/2006/main" prst="roundRect">
            <a:avLst>
              <a:gd name="adj" fmla="val 900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E85B2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CF37E06-BDD4-4496-A3B8-5DE51AC8A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009900"/>
            <a:ext cx="2724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E85B24"/>
                </a:solidFill>
              </a:defRPr>
            </a:pPr>
            <a:r>
              <a:rPr sz="1275" b="1">
                <a:solidFill>
                  <a:srgbClr val="E85B24"/>
                </a:solidFill>
              </a:rPr>
              <a:t>XCODE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804ABE7-42E4-4041-9EC1-17E7940B8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562350"/>
            <a:ext cx="27241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425" b="1">
                <a:solidFill>
                  <a:srgbClr val="172033"/>
                </a:solidFill>
              </a:defRPr>
            </a:pPr>
            <a:r>
              <a:rPr sz="1425" b="1">
                <a:solidFill>
                  <a:srgbClr val="172033"/>
                </a:solidFill>
              </a:rPr>
              <a:t>scheme 有沒有？</a:t>
            </a:r>
          </a:p>
          <a:p xmlns:a="http://schemas.openxmlformats.org/drawingml/2006/main">
            <a:pPr>
              <a:buNone/>
              <a:defRPr sz="1425" b="1">
                <a:solidFill>
                  <a:srgbClr val="172033"/>
                </a:solidFill>
              </a:defRPr>
            </a:pPr>
            <a:r>
              <a:rPr sz="1425" b="1">
                <a:solidFill>
                  <a:srgbClr val="172033"/>
                </a:solidFill>
              </a:rPr>
              <a:t>simulator 能不能開？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3195FDD-E35D-4D0E-8F40-F8B72C274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400550"/>
            <a:ext cx="2724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125" b="0">
                <a:solidFill>
                  <a:srgbClr val="566174"/>
                </a:solidFill>
              </a:defRPr>
            </a:pPr>
            <a:r>
              <a:rPr sz="1125" b="0">
                <a:solidFill>
                  <a:srgbClr val="566174"/>
                </a:solidFill>
              </a:rPr>
              <a:t>先確認能 Run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CCDEBDB-27C8-422C-93CC-406D63C57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724150"/>
            <a:ext cx="3181350" cy="2114550"/>
          </a:xfrm>
          <a:prstGeom xmlns:a="http://schemas.openxmlformats.org/drawingml/2006/main" prst="roundRect">
            <a:avLst>
              <a:gd name="adj" fmla="val 900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87EA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2A11529-D5E6-4FFE-B479-7546F6091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009900"/>
            <a:ext cx="2724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087EA4"/>
                </a:solidFill>
              </a:defRPr>
            </a:pPr>
            <a:r>
              <a:rPr sz="1275" b="1">
                <a:solidFill>
                  <a:srgbClr val="087EA4"/>
                </a:solidFill>
              </a:rPr>
              <a:t>NETWORK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9E7E301-9127-4C24-B605-170EF32CE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562350"/>
            <a:ext cx="27241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425" b="1">
                <a:solidFill>
                  <a:srgbClr val="172033"/>
                </a:solidFill>
              </a:defRPr>
            </a:pPr>
            <a:r>
              <a:rPr sz="1425" b="1">
                <a:solidFill>
                  <a:srgbClr val="172033"/>
                </a:solidFill>
              </a:rPr>
              <a:t>endpoint 正確？</a:t>
            </a:r>
          </a:p>
          <a:p xmlns:a="http://schemas.openxmlformats.org/drawingml/2006/main">
            <a:pPr>
              <a:buNone/>
              <a:defRPr sz="1425" b="1">
                <a:solidFill>
                  <a:srgbClr val="172033"/>
                </a:solidFill>
              </a:defRPr>
            </a:pPr>
            <a:r>
              <a:rPr sz="1425" b="1">
                <a:solidFill>
                  <a:srgbClr val="172033"/>
                </a:solidFill>
              </a:rPr>
              <a:t>HTTP status / timeout？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EC6C48A-126F-4697-9A58-13CB6EF0F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4400550"/>
            <a:ext cx="2724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125" b="0">
                <a:solidFill>
                  <a:srgbClr val="566174"/>
                </a:solidFill>
              </a:defRPr>
            </a:pPr>
            <a:r>
              <a:rPr sz="1125" b="0">
                <a:solidFill>
                  <a:srgbClr val="566174"/>
                </a:solidFill>
              </a:rPr>
              <a:t>先看 response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975D76F-C9A6-4A2D-B6ED-10C9D302B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724150"/>
            <a:ext cx="3181350" cy="2114550"/>
          </a:xfrm>
          <a:prstGeom xmlns:a="http://schemas.openxmlformats.org/drawingml/2006/main" prst="roundRect">
            <a:avLst>
              <a:gd name="adj" fmla="val 900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E7D32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04CA269-6969-4E19-BE06-C006981F7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009900"/>
            <a:ext cx="2724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2E7D32"/>
                </a:solidFill>
              </a:defRPr>
            </a:pPr>
            <a:r>
              <a:rPr sz="1275" b="1">
                <a:solidFill>
                  <a:srgbClr val="2E7D32"/>
                </a:solidFill>
              </a:rPr>
              <a:t>STATE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E37B52B-D818-4D3C-8A15-7E59A9326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562350"/>
            <a:ext cx="27241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425" b="1">
                <a:solidFill>
                  <a:srgbClr val="172033"/>
                </a:solidFill>
              </a:defRPr>
            </a:pPr>
            <a:r>
              <a:rPr sz="1425" b="1">
                <a:solidFill>
                  <a:srgbClr val="172033"/>
                </a:solidFill>
              </a:rPr>
              <a:t>state 有沒有更新？</a:t>
            </a:r>
          </a:p>
          <a:p xmlns:a="http://schemas.openxmlformats.org/drawingml/2006/main">
            <a:pPr>
              <a:buNone/>
              <a:defRPr sz="1425" b="1">
                <a:solidFill>
                  <a:srgbClr val="172033"/>
                </a:solidFill>
              </a:defRPr>
            </a:pPr>
            <a:r>
              <a:rPr sz="1425" b="1">
                <a:solidFill>
                  <a:srgbClr val="172033"/>
                </a:solidFill>
              </a:rPr>
              <a:t>index / MainActor？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28479C6-F48D-40AE-8D34-AAA689A1C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4400550"/>
            <a:ext cx="2724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125" b="0">
                <a:solidFill>
                  <a:srgbClr val="566174"/>
                </a:solidFill>
              </a:defRPr>
            </a:pPr>
            <a:r>
              <a:rPr sz="1125" b="0">
                <a:solidFill>
                  <a:srgbClr val="566174"/>
                </a:solidFill>
              </a:rPr>
              <a:t>先看資料流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D5F2F12-3E4B-4F89-867E-F6FAE2CCA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410200"/>
            <a:ext cx="762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B64214"/>
                </a:solidFill>
              </a:defRPr>
            </a:pPr>
            <a:r>
              <a:rPr sz="1575" b="1">
                <a:solidFill>
                  <a:srgbClr val="B64214"/>
                </a:solidFill>
              </a:rPr>
              <a:t>不要一次重寫整個 App；每次只修一個可以重現的錯誤。</a:t>
            </a:r>
          </a:p>
        </p:txBody>
      </p:sp>
    </p:spTree>
    <p:extLst>
      <p:ext uri="{BB962C8B-B14F-4D97-AF65-F5344CB8AC3E}">
        <p14:creationId xmlns:p14="http://schemas.microsoft.com/office/powerpoint/2010/main" val="218243778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7F6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D3CF7BC-8969-4F8C-BDBA-F15CFFF90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566174"/>
                </a:solidFill>
              </a:defRPr>
            </a:pPr>
            <a:r>
              <a:rPr sz="975" b="1">
                <a:solidFill>
                  <a:srgbClr val="566174"/>
                </a:solidFill>
              </a:rPr>
              <a:t>攝靈者卡牌 / STEP-BY-STEP WORKSHOP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696D8EB-8614-48CE-A41C-126ECF3EC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323850"/>
            <a:ext cx="723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75" b="1">
                <a:solidFill>
                  <a:srgbClr val="566174"/>
                </a:solidFill>
              </a:defRPr>
            </a:pPr>
            <a:r>
              <a:rPr sz="975" b="1">
                <a:solidFill>
                  <a:srgbClr val="566174"/>
                </a:solidFill>
              </a:rPr>
              <a:t>23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D108C4F-9F45-4D34-94EA-D6647720C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00" b="1">
                <a:solidFill>
                  <a:srgbClr val="566174"/>
                </a:solidFill>
              </a:defRPr>
            </a:pPr>
            <a:r>
              <a:rPr sz="900" b="1">
                <a:solidFill>
                  <a:srgbClr val="566174"/>
                </a:solidFill>
              </a:rPr>
              <a:t>CHECK / 完成定義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9E541A4-6741-4F82-9D0A-3A3E99BF2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198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D0DC06D-52E1-4535-B44B-F1D5CCC51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81915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925" b="1">
                <a:solidFill>
                  <a:srgbClr val="172033"/>
                </a:solidFill>
              </a:defRPr>
            </a:pPr>
            <a:r>
              <a:rPr sz="2925" b="1">
                <a:solidFill>
                  <a:srgbClr val="172033"/>
                </a:solidFill>
              </a:rPr>
              <a:t>逐項打勾，App 就完成了。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C27AF7C-0F6E-4D8B-B1BF-9B74C613D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609850"/>
            <a:ext cx="12573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E7D3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1FC5895-4B8A-4DD3-919C-8CFD0C418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657475"/>
            <a:ext cx="1257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F7F6F2"/>
                </a:solidFill>
              </a:defRPr>
            </a:pPr>
            <a:r>
              <a:rPr sz="975" b="1">
                <a:solidFill>
                  <a:srgbClr val="F7F6F2"/>
                </a:solidFill>
              </a:rPr>
              <a:t>必要路徑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F155CDA-3D05-4250-941A-9B148280A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2667000"/>
            <a:ext cx="457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□ Run  □ 選照片  □ 卡牌  □ 兩隻  □ 攻擊  □ 結果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0C9028D-7574-4E93-8305-2119D2269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33750"/>
            <a:ext cx="10668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628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4DDBDC7-74E8-4D7D-936B-F14949D7F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81375"/>
            <a:ext cx="1066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F7F6F2"/>
                </a:solidFill>
              </a:defRPr>
            </a:pPr>
            <a:r>
              <a:rPr sz="975" b="1">
                <a:solidFill>
                  <a:srgbClr val="F7F6F2"/>
                </a:solidFill>
              </a:rPr>
              <a:t>失敗路徑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3E85890-0618-48AD-A967-3A2AD6164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3390900"/>
            <a:ext cx="685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□ 相機不可用退回相簿  □ AI 失敗可重試  □ mock 可啟動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E9A4BFC-8FD3-486E-B2E7-FE3063BA5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114800"/>
            <a:ext cx="10896600" cy="1104900"/>
          </a:xfrm>
          <a:prstGeom xmlns:a="http://schemas.openxmlformats.org/drawingml/2006/main" prst="roundRect">
            <a:avLst>
              <a:gd name="adj" fmla="val 17241"/>
            </a:avLst>
          </a:prstGeom>
          <a:solidFill xmlns:a="http://schemas.openxmlformats.org/drawingml/2006/main">
            <a:srgbClr val="E9EEF7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F2A766F-CC0C-4407-BBBC-1EF6DD624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362450"/>
            <a:ext cx="1000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B64214"/>
                </a:solidFill>
              </a:defRPr>
            </a:pPr>
            <a:r>
              <a:rPr sz="1800" b="1">
                <a:solidFill>
                  <a:srgbClr val="B64214"/>
                </a:solidFill>
              </a:rPr>
              <a:t>完成定義：從首頁開始，在 90 秒內走完輸入 → 卡牌 → 對戰 → 結果。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8286C90-48CB-4D48-9EE5-66833E14B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819650"/>
            <a:ext cx="952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0">
                <a:solidFill>
                  <a:srgbClr val="566174"/>
                </a:solidFill>
              </a:defRPr>
            </a:pPr>
            <a:r>
              <a:rPr sz="1275" b="0">
                <a:solidFill>
                  <a:srgbClr val="566174"/>
                </a:solidFill>
              </a:rPr>
              <a:t>若其中一步失敗，只回到對應 Step，不整批重做。</a:t>
            </a:r>
          </a:p>
        </p:txBody>
      </p:sp>
    </p:spTree>
    <p:extLst>
      <p:ext uri="{BB962C8B-B14F-4D97-AF65-F5344CB8AC3E}">
        <p14:creationId xmlns:p14="http://schemas.microsoft.com/office/powerpoint/2010/main" val="254396433"/>
      </p:ext>
    </p:extLst>
  </p:cSld>
</p:sld>
</file>

<file path=ppt/slides/slide24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FFF1E9"/>
            </a:gs>
            <a:gs pos="68000">
              <a:srgbClr val="F7F6F2"/>
            </a:gs>
            <a:gs pos="100000">
              <a:srgbClr val="EAF8FC"/>
            </a:gs>
          </a:gsLst>
          <a:lin ang="810000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5751383a1d64c3c"/>
          <a:srcRect xmlns:a="http://schemas.openxmlformats.org/drawingml/2006/main" l="0" t="12152" r="0" b="1215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001000" y="0"/>
            <a:ext cx="4191000" cy="6858000"/>
          </a:xfrm>
          <a:prstGeom xmlns:a="http://schemas.openxmlformats.org/drawingml/2006/main" prst="roundRect">
            <a:avLst>
              <a:gd name="adj" fmla="val 5000"/>
            </a:avLst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C11280F-BA6E-4F8B-BD6B-9543172C8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0"/>
            <a:ext cx="4953000" cy="6858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7F6F2">
              <a:alpha val="76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0CA5298-B8A4-477B-A040-A67C872D1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0100"/>
            <a:ext cx="533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B64214"/>
                </a:solidFill>
              </a:defRPr>
            </a:pPr>
            <a:r>
              <a:rPr sz="1200" b="1">
                <a:solidFill>
                  <a:srgbClr val="B64214"/>
                </a:solidFill>
              </a:rPr>
              <a:t>Workshop MVP 已完成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43F0F19-F805-46A2-90EF-68D9C2691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6667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3150" b="1">
                <a:solidFill>
                  <a:srgbClr val="172033"/>
                </a:solidFill>
              </a:defRPr>
            </a:pPr>
            <a:r>
              <a:rPr sz="3150" b="1">
                <a:solidFill>
                  <a:srgbClr val="172033"/>
                </a:solidFill>
              </a:rPr>
              <a:t>先讓流程成立，</a:t>
            </a:r>
          </a:p>
          <a:p xmlns:a="http://schemas.openxmlformats.org/drawingml/2006/main">
            <a:pPr>
              <a:buNone/>
              <a:defRPr sz="3150" b="1">
                <a:solidFill>
                  <a:srgbClr val="172033"/>
                </a:solidFill>
              </a:defRPr>
            </a:pPr>
            <a:r>
              <a:rPr sz="3150" b="1">
                <a:solidFill>
                  <a:srgbClr val="172033"/>
                </a:solidFill>
              </a:rPr>
              <a:t>再回頭加收藏、升級、</a:t>
            </a:r>
          </a:p>
          <a:p xmlns:a="http://schemas.openxmlformats.org/drawingml/2006/main">
            <a:pPr>
              <a:buNone/>
              <a:defRPr sz="3150" b="1">
                <a:solidFill>
                  <a:srgbClr val="172033"/>
                </a:solidFill>
              </a:defRPr>
            </a:pPr>
            <a:r>
              <a:rPr sz="3150" b="1">
                <a:solidFill>
                  <a:srgbClr val="172033"/>
                </a:solidFill>
              </a:rPr>
              <a:t>去背與完整戰鬥。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B778F35-D1B9-4C23-8BBC-55CB570CD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276600"/>
            <a:ext cx="400050" cy="400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5B2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D3EE26F-9C4F-4F64-AC18-419B81EC1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52800"/>
            <a:ext cx="4000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F7F6F2"/>
                </a:solidFill>
              </a:defRPr>
            </a:pPr>
            <a:r>
              <a:rPr sz="1425" b="1">
                <a:solidFill>
                  <a:srgbClr val="F7F6F2"/>
                </a:solidFill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365F21F-1871-4F1E-A9BD-FEC07BD80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352800"/>
            <a:ext cx="533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172033"/>
                </a:solidFill>
              </a:defRPr>
            </a:pPr>
            <a:r>
              <a:rPr sz="1575" b="1">
                <a:solidFill>
                  <a:srgbClr val="172033"/>
                </a:solidFill>
              </a:rPr>
              <a:t>先 build，再加下一步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C7C4017-3ECF-4F41-850B-5588A6EE2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905250"/>
            <a:ext cx="400050" cy="400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87EA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D26177B-64B2-4402-BACF-7F277ACF6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981450"/>
            <a:ext cx="4000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F7F6F2"/>
                </a:solidFill>
              </a:defRPr>
            </a:pPr>
            <a:r>
              <a:rPr sz="1425" b="1">
                <a:solidFill>
                  <a:srgbClr val="F7F6F2"/>
                </a:solidFill>
              </a:rPr>
              <a:t>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36E3BA6-1BF6-48E0-8C2E-69ABB4466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981450"/>
            <a:ext cx="533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每一步都有可見檢查點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6F2AB4F-4E15-439A-AA80-07ED9B3F7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533900"/>
            <a:ext cx="400050" cy="400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6946C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01CDDD0-D6AB-4271-8833-D0C263501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610100"/>
            <a:ext cx="4000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F7F6F2"/>
                </a:solidFill>
              </a:defRPr>
            </a:pPr>
            <a:r>
              <a:rPr sz="1425" b="1">
                <a:solidFill>
                  <a:srgbClr val="F7F6F2"/>
                </a:solidFill>
              </a:rPr>
              <a:t>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00FFCD3-A91A-4CD9-8722-0577F0F94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610100"/>
            <a:ext cx="533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AI 寫 code，你負責驗證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CBFB50B-A385-4279-B39D-55604DCD6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44830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566174"/>
                </a:solidFill>
              </a:defRPr>
            </a:pPr>
            <a:r>
              <a:rPr sz="1500" b="1">
                <a:solidFill>
                  <a:srgbClr val="566174"/>
                </a:solidFill>
              </a:rPr>
              <a:t>攝靈者卡牌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A0B8196-84C1-453A-89B1-260562226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753100"/>
            <a:ext cx="628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B64214"/>
                </a:solidFill>
              </a:defRPr>
            </a:pPr>
            <a:r>
              <a:rPr sz="1800" b="1">
                <a:solidFill>
                  <a:srgbClr val="B64214"/>
                </a:solidFill>
              </a:rPr>
              <a:t>下一步：用你自己的照片抓第一隻怪獸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C670686-3F1F-4264-958B-19D8C5E97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5981700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75" b="1">
                <a:solidFill>
                  <a:srgbClr val="566174"/>
                </a:solidFill>
              </a:defRPr>
            </a:pPr>
            <a:r>
              <a:rPr sz="975" b="1">
                <a:solidFill>
                  <a:srgbClr val="566174"/>
                </a:solidFill>
              </a:rPr>
              <a:t>Xcode · Codex · SwiftUI</a:t>
            </a:r>
          </a:p>
        </p:txBody>
      </p:sp>
    </p:spTree>
    <p:extLst>
      <p:ext uri="{BB962C8B-B14F-4D97-AF65-F5344CB8AC3E}">
        <p14:creationId xmlns:p14="http://schemas.microsoft.com/office/powerpoint/2010/main" val="40687648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2026-07-26T05:24:13.4230000Z</dcterms:created>
  <dcterms:modified xsi:type="dcterms:W3CDTF">2026-07-26T05:24:13.4230000Z</dcterms:modified>
</coreProperties>
</file>